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20"/>
  </p:notesMasterIdLst>
  <p:handoutMasterIdLst>
    <p:handoutMasterId r:id="rId21"/>
  </p:handoutMasterIdLst>
  <p:sldIdLst>
    <p:sldId id="256" r:id="rId2"/>
    <p:sldId id="289" r:id="rId3"/>
    <p:sldId id="295" r:id="rId4"/>
    <p:sldId id="304" r:id="rId5"/>
    <p:sldId id="302" r:id="rId6"/>
    <p:sldId id="303" r:id="rId7"/>
    <p:sldId id="291" r:id="rId8"/>
    <p:sldId id="296" r:id="rId9"/>
    <p:sldId id="293" r:id="rId10"/>
    <p:sldId id="294" r:id="rId11"/>
    <p:sldId id="299" r:id="rId12"/>
    <p:sldId id="300" r:id="rId13"/>
    <p:sldId id="301" r:id="rId14"/>
    <p:sldId id="290" r:id="rId15"/>
    <p:sldId id="297" r:id="rId16"/>
    <p:sldId id="292" r:id="rId17"/>
    <p:sldId id="298" r:id="rId18"/>
    <p:sldId id="288" r:id="rId1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74" d="100"/>
          <a:sy n="74" d="100"/>
        </p:scale>
        <p:origin x="684" y="5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24/03/2026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24/03/2026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3.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4.sv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Terminal + ‘</a:t>
            </a:r>
            <a:r>
              <a:rPr lang="en-US" kern="0" dirty="0" err="1">
                <a:solidFill>
                  <a:sysClr val="windowText" lastClr="000000"/>
                </a:solidFill>
                <a:sym typeface="Wingdings" pitchFamily="2" charset="2"/>
              </a:rPr>
              <a:t>uv</a:t>
            </a:r>
            <a:r>
              <a:rPr lang="en-US" kern="0">
                <a:solidFill>
                  <a:sysClr val="windowText" lastClr="000000"/>
                </a:solidFill>
                <a:sym typeface="Wingdings" pitchFamily="2" charset="2"/>
              </a:rPr>
              <a:t> sync’</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3231654"/>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highlight>
                  <a:srgbClr val="FFFF00"/>
                </a:highlight>
                <a:latin typeface="Arial" panose="020B0604020202020204" pitchFamily="34" charset="0"/>
                <a:cs typeface="Arial" panose="020B0604020202020204" pitchFamily="34" charset="0"/>
              </a:rPr>
              <a:t>HAY UN </a:t>
            </a:r>
            <a:r>
              <a:rPr lang="en-US" sz="1200" dirty="0" err="1">
                <a:solidFill>
                  <a:srgbClr val="FF0000"/>
                </a:solidFill>
                <a:highlight>
                  <a:srgbClr val="FFFF00"/>
                </a:highlight>
                <a:latin typeface="Arial" panose="020B0604020202020204" pitchFamily="34" charset="0"/>
                <a:cs typeface="Arial" panose="020B0604020202020204" pitchFamily="34" charset="0"/>
              </a:rPr>
              <a:t>Lpi</a:t>
            </a:r>
            <a:r>
              <a:rPr lang="en-US" sz="1200" dirty="0">
                <a:solidFill>
                  <a:srgbClr val="FF0000"/>
                </a:solidFill>
                <a:highlight>
                  <a:srgbClr val="FFFF00"/>
                </a:highlight>
                <a:latin typeface="Arial" panose="020B0604020202020204" pitchFamily="34" charset="0"/>
                <a:cs typeface="Arial" panose="020B0604020202020204" pitchFamily="34" charset="0"/>
              </a:rPr>
              <a:t> PARA TE y TM?</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Hacer </a:t>
            </a:r>
            <a:r>
              <a:rPr lang="en-US" sz="1200" dirty="0" err="1">
                <a:solidFill>
                  <a:srgbClr val="FF0000"/>
                </a:solidFill>
                <a:latin typeface="Arial" panose="020B0604020202020204" pitchFamily="34" charset="0"/>
                <a:cs typeface="Arial" panose="020B0604020202020204" pitchFamily="34" charset="0"/>
              </a:rPr>
              <a:t>una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diapo</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después</a:t>
            </a:r>
            <a:r>
              <a:rPr lang="en-US" sz="1200" dirty="0">
                <a:solidFill>
                  <a:srgbClr val="FF0000"/>
                </a:solidFill>
                <a:latin typeface="Arial" panose="020B0604020202020204" pitchFamily="34" charset="0"/>
                <a:cs typeface="Arial" panose="020B0604020202020204" pitchFamily="34" charset="0"/>
              </a:rPr>
              <a:t> de </a:t>
            </a:r>
            <a:r>
              <a:rPr lang="en-US" sz="1200" dirty="0" err="1">
                <a:solidFill>
                  <a:srgbClr val="FF0000"/>
                </a:solidFill>
                <a:latin typeface="Arial" panose="020B0604020202020204" pitchFamily="34" charset="0"/>
                <a:cs typeface="Arial" panose="020B0604020202020204" pitchFamily="34" charset="0"/>
              </a:rPr>
              <a:t>esta</a:t>
            </a:r>
            <a:r>
              <a:rPr lang="en-US" sz="1200" dirty="0">
                <a:solidFill>
                  <a:srgbClr val="FF0000"/>
                </a:solidFill>
                <a:latin typeface="Arial" panose="020B0604020202020204" pitchFamily="34" charset="0"/>
                <a:cs typeface="Arial" panose="020B0604020202020204" pitchFamily="34" charset="0"/>
              </a:rPr>
              <a:t> y </a:t>
            </a:r>
            <a:r>
              <a:rPr lang="en-US" sz="1200" dirty="0" err="1">
                <a:solidFill>
                  <a:srgbClr val="FF0000"/>
                </a:solidFill>
                <a:latin typeface="Arial" panose="020B0604020202020204" pitchFamily="34" charset="0"/>
                <a:cs typeface="Arial" panose="020B0604020202020204" pitchFamily="34" charset="0"/>
              </a:rPr>
              <a:t>poner</a:t>
            </a:r>
            <a:r>
              <a:rPr lang="en-US" sz="1200" dirty="0">
                <a:solidFill>
                  <a:srgbClr val="FF0000"/>
                </a:solidFill>
                <a:latin typeface="Arial" panose="020B0604020202020204" pitchFamily="34" charset="0"/>
                <a:cs typeface="Arial" panose="020B0604020202020204" pitchFamily="34" charset="0"/>
              </a:rPr>
              <a:t> las </a:t>
            </a:r>
            <a:r>
              <a:rPr lang="en-US" sz="1200" dirty="0" err="1">
                <a:solidFill>
                  <a:srgbClr val="FF0000"/>
                </a:solidFill>
                <a:latin typeface="Arial" panose="020B0604020202020204" pitchFamily="34" charset="0"/>
                <a:cs typeface="Arial" panose="020B0604020202020204" pitchFamily="34" charset="0"/>
              </a:rPr>
              <a:t>gráficas</a:t>
            </a:r>
            <a:r>
              <a:rPr lang="en-US" sz="1200" dirty="0">
                <a:solidFill>
                  <a:srgbClr val="FF0000"/>
                </a:solidFill>
                <a:latin typeface="Arial" panose="020B0604020202020204" pitchFamily="34" charset="0"/>
                <a:cs typeface="Arial" panose="020B0604020202020204" pitchFamily="34" charset="0"/>
              </a:rPr>
              <a:t> y </a:t>
            </a:r>
            <a:r>
              <a:rPr lang="en-US" sz="1200" dirty="0" err="1">
                <a:solidFill>
                  <a:srgbClr val="FF0000"/>
                </a:solidFill>
                <a:latin typeface="Arial" panose="020B0604020202020204" pitchFamily="34" charset="0"/>
                <a:cs typeface="Arial" panose="020B0604020202020204" pitchFamily="34" charset="0"/>
              </a:rPr>
              <a:t>resultados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comentarlos</a:t>
            </a:r>
            <a:r>
              <a:rPr lang="en-US" sz="1200" dirty="0">
                <a:solidFill>
                  <a:srgbClr val="FF0000"/>
                </a:solidFill>
                <a:latin typeface="Arial" panose="020B0604020202020204" pitchFamily="34" charset="0"/>
                <a:cs typeface="Arial" panose="020B0604020202020204" pitchFamily="34" charset="0"/>
              </a:rPr>
              <a:t>.</a:t>
            </a:r>
          </a:p>
          <a:p>
            <a:pPr algn="just"/>
            <a:r>
              <a:rPr lang="en-US" sz="1200" dirty="0">
                <a:solidFill>
                  <a:srgbClr val="FF0000"/>
                </a:solidFill>
                <a:latin typeface="Arial" panose="020B0604020202020204" pitchFamily="34" charset="0"/>
                <a:cs typeface="Arial" panose="020B0604020202020204" pitchFamily="34" charset="0"/>
              </a:rPr>
              <a:t>En </a:t>
            </a:r>
            <a:r>
              <a:rPr lang="en-US" sz="1200" dirty="0" err="1">
                <a:solidFill>
                  <a:srgbClr val="FF0000"/>
                </a:solidFill>
                <a:latin typeface="Arial" panose="020B0604020202020204" pitchFamily="34" charset="0"/>
                <a:cs typeface="Arial" panose="020B0604020202020204" pitchFamily="34" charset="0"/>
              </a:rPr>
              <a:t>función</a:t>
            </a:r>
            <a:r>
              <a:rPr lang="en-US" sz="1200" dirty="0">
                <a:solidFill>
                  <a:srgbClr val="FF0000"/>
                </a:solidFill>
                <a:latin typeface="Arial" panose="020B0604020202020204" pitchFamily="34" charset="0"/>
                <a:cs typeface="Arial" panose="020B0604020202020204" pitchFamily="34" charset="0"/>
              </a:rPr>
              <a:t> del gap, </a:t>
            </a:r>
            <a:r>
              <a:rPr lang="en-US" sz="1200" dirty="0" err="1">
                <a:solidFill>
                  <a:srgbClr val="FF0000"/>
                </a:solidFill>
                <a:latin typeface="Arial" panose="020B0604020202020204" pitchFamily="34" charset="0"/>
                <a:cs typeface="Arial" panose="020B0604020202020204" pitchFamily="34" charset="0"/>
              </a:rPr>
              <a:t>más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acoplo</a:t>
            </a:r>
            <a:r>
              <a:rPr lang="en-US" sz="1200" dirty="0">
                <a:solidFill>
                  <a:srgbClr val="FF0000"/>
                </a:solidFill>
                <a:latin typeface="Arial" panose="020B0604020202020204" pitchFamily="34" charset="0"/>
                <a:cs typeface="Arial" panose="020B0604020202020204" pitchFamily="34" charset="0"/>
              </a:rPr>
              <a:t> o </a:t>
            </a:r>
            <a:r>
              <a:rPr lang="en-US" sz="1200" dirty="0" err="1">
                <a:solidFill>
                  <a:srgbClr val="FF0000"/>
                </a:solidFill>
                <a:latin typeface="Arial" panose="020B0604020202020204" pitchFamily="34" charset="0"/>
                <a:cs typeface="Arial" panose="020B0604020202020204" pitchFamily="34" charset="0"/>
              </a:rPr>
              <a:t>menos</a:t>
            </a:r>
            <a:r>
              <a:rPr lang="en-US" sz="1200" dirty="0">
                <a:solidFill>
                  <a:srgbClr val="FF0000"/>
                </a:solidFill>
                <a:latin typeface="Arial" panose="020B0604020202020204" pitchFamily="34" charset="0"/>
                <a:cs typeface="Arial" panose="020B0604020202020204" pitchFamily="34" charset="0"/>
              </a:rPr>
              <a:t>, van a </a:t>
            </a:r>
            <a:r>
              <a:rPr lang="en-US" sz="1200" dirty="0" err="1">
                <a:solidFill>
                  <a:srgbClr val="FF0000"/>
                </a:solidFill>
                <a:latin typeface="Arial" panose="020B0604020202020204" pitchFamily="34" charset="0"/>
                <a:cs typeface="Arial" panose="020B0604020202020204" pitchFamily="34" charset="0"/>
              </a:rPr>
              <a:t>hacer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unos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supermodos</a:t>
            </a:r>
            <a:r>
              <a:rPr lang="en-US" sz="1200" dirty="0">
                <a:solidFill>
                  <a:srgbClr val="FF0000"/>
                </a:solidFill>
                <a:latin typeface="Arial" panose="020B0604020202020204" pitchFamily="34" charset="0"/>
                <a:cs typeface="Arial" panose="020B0604020202020204" pitchFamily="34" charset="0"/>
              </a:rPr>
              <a:t> q se </a:t>
            </a:r>
            <a:r>
              <a:rPr lang="en-US" sz="1200" dirty="0" err="1">
                <a:solidFill>
                  <a:srgbClr val="FF0000"/>
                </a:solidFill>
                <a:latin typeface="Arial" panose="020B0604020202020204" pitchFamily="34" charset="0"/>
                <a:cs typeface="Arial" panose="020B0604020202020204" pitchFamily="34" charset="0"/>
              </a:rPr>
              <a:t>propagan</a:t>
            </a:r>
            <a:r>
              <a:rPr lang="en-US" sz="1200" dirty="0">
                <a:solidFill>
                  <a:srgbClr val="FF0000"/>
                </a:solidFill>
                <a:latin typeface="Arial" panose="020B0604020202020204" pitchFamily="34" charset="0"/>
                <a:cs typeface="Arial" panose="020B0604020202020204" pitchFamily="34" charset="0"/>
              </a:rPr>
              <a:t> x la </a:t>
            </a:r>
            <a:r>
              <a:rPr lang="en-US" sz="1200" dirty="0" err="1">
                <a:solidFill>
                  <a:srgbClr val="FF0000"/>
                </a:solidFill>
                <a:latin typeface="Arial" panose="020B0604020202020204" pitchFamily="34" charset="0"/>
                <a:cs typeface="Arial" panose="020B0604020202020204" pitchFamily="34" charset="0"/>
              </a:rPr>
              <a:t>estructura</a:t>
            </a:r>
            <a:r>
              <a:rPr lang="en-US" sz="1200" dirty="0">
                <a:solidFill>
                  <a:srgbClr val="FF0000"/>
                </a:solidFill>
                <a:latin typeface="Arial" panose="020B0604020202020204" pitchFamily="34" charset="0"/>
                <a:cs typeface="Arial" panose="020B0604020202020204" pitchFamily="34" charset="0"/>
              </a:rPr>
              <a:t>.</a:t>
            </a:r>
          </a:p>
          <a:p>
            <a:pPr algn="just"/>
            <a:endParaRPr lang="en-US" sz="1200" dirty="0">
              <a:solidFill>
                <a:srgbClr val="FF0000"/>
              </a:solidFill>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Se </a:t>
            </a:r>
            <a:r>
              <a:rPr lang="en-US" sz="1200" dirty="0" err="1">
                <a:solidFill>
                  <a:srgbClr val="FF0000"/>
                </a:solidFill>
                <a:latin typeface="Arial" panose="020B0604020202020204" pitchFamily="34" charset="0"/>
                <a:cs typeface="Arial" panose="020B0604020202020204" pitchFamily="34" charset="0"/>
              </a:rPr>
              <a:t>representa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el</a:t>
            </a:r>
            <a:r>
              <a:rPr lang="en-US" sz="1200" dirty="0">
                <a:solidFill>
                  <a:srgbClr val="FF0000"/>
                </a:solidFill>
                <a:latin typeface="Arial" panose="020B0604020202020204" pitchFamily="34" charset="0"/>
                <a:cs typeface="Arial" panose="020B0604020202020204" pitchFamily="34" charset="0"/>
              </a:rPr>
              <a:t> campo Ex, </a:t>
            </a:r>
            <a:r>
              <a:rPr lang="en-US" sz="1200" dirty="0" err="1">
                <a:solidFill>
                  <a:srgbClr val="FF0000"/>
                </a:solidFill>
                <a:latin typeface="Arial" panose="020B0604020202020204" pitchFamily="34" charset="0"/>
                <a:cs typeface="Arial" panose="020B0604020202020204" pitchFamily="34" charset="0"/>
              </a:rPr>
              <a:t>el</a:t>
            </a:r>
            <a:r>
              <a:rPr lang="en-US" sz="1200" dirty="0">
                <a:solidFill>
                  <a:srgbClr val="FF0000"/>
                </a:solidFill>
                <a:latin typeface="Arial" panose="020B0604020202020204" pitchFamily="34" charset="0"/>
                <a:cs typeface="Arial" panose="020B0604020202020204" pitchFamily="34" charset="0"/>
              </a:rPr>
              <a:t> Ey </a:t>
            </a:r>
            <a:r>
              <a:rPr lang="en-US" sz="1200" dirty="0" err="1">
                <a:solidFill>
                  <a:srgbClr val="FF0000"/>
                </a:solidFill>
                <a:latin typeface="Arial" panose="020B0604020202020204" pitchFamily="34" charset="0"/>
                <a:cs typeface="Arial" panose="020B0604020202020204" pitchFamily="34" charset="0"/>
              </a:rPr>
              <a:t>sería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prácticamente</a:t>
            </a:r>
            <a:r>
              <a:rPr lang="en-US" sz="1200" dirty="0">
                <a:solidFill>
                  <a:srgbClr val="FF0000"/>
                </a:solidFill>
                <a:latin typeface="Arial" panose="020B0604020202020204" pitchFamily="34" charset="0"/>
                <a:cs typeface="Arial" panose="020B0604020202020204" pitchFamily="34" charset="0"/>
              </a:rPr>
              <a:t> cero. Si </a:t>
            </a:r>
            <a:r>
              <a:rPr lang="en-US" sz="1200" dirty="0" err="1">
                <a:solidFill>
                  <a:srgbClr val="FF0000"/>
                </a:solidFill>
                <a:latin typeface="Arial" panose="020B0604020202020204" pitchFamily="34" charset="0"/>
                <a:cs typeface="Arial" panose="020B0604020202020204" pitchFamily="34" charset="0"/>
              </a:rPr>
              <a:t>vemos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misma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fase</a:t>
            </a:r>
            <a:r>
              <a:rPr lang="en-US" sz="1200" dirty="0">
                <a:solidFill>
                  <a:srgbClr val="FF0000"/>
                </a:solidFill>
                <a:latin typeface="Arial" panose="020B0604020202020204" pitchFamily="34" charset="0"/>
                <a:cs typeface="Arial" panose="020B0604020202020204" pitchFamily="34" charset="0"/>
              </a:rPr>
              <a:t>, modo par, </a:t>
            </a:r>
            <a:r>
              <a:rPr lang="en-US" sz="1200" dirty="0" err="1">
                <a:solidFill>
                  <a:srgbClr val="FF0000"/>
                </a:solidFill>
                <a:latin typeface="Arial" panose="020B0604020202020204" pitchFamily="34" charset="0"/>
                <a:cs typeface="Arial" panose="020B0604020202020204" pitchFamily="34" charset="0"/>
              </a:rPr>
              <a:t>si</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vemos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contrafase</a:t>
            </a:r>
            <a:r>
              <a:rPr lang="en-US" sz="1200" dirty="0">
                <a:solidFill>
                  <a:srgbClr val="FF0000"/>
                </a:solidFill>
                <a:latin typeface="Arial" panose="020B0604020202020204" pitchFamily="34" charset="0"/>
                <a:cs typeface="Arial" panose="020B0604020202020204" pitchFamily="34" charset="0"/>
              </a:rPr>
              <a:t>, modo impar.</a:t>
            </a:r>
          </a:p>
          <a:p>
            <a:pPr algn="just"/>
            <a:r>
              <a:rPr lang="en-US" sz="1200" dirty="0">
                <a:solidFill>
                  <a:srgbClr val="FF0000"/>
                </a:solidFill>
                <a:latin typeface="Arial" panose="020B0604020202020204" pitchFamily="34" charset="0"/>
                <a:cs typeface="Arial" panose="020B0604020202020204" pitchFamily="34" charset="0"/>
              </a:rPr>
              <a:t>Para </a:t>
            </a:r>
            <a:r>
              <a:rPr lang="en-US" sz="1200" dirty="0" err="1">
                <a:solidFill>
                  <a:srgbClr val="FF0000"/>
                </a:solidFill>
                <a:latin typeface="Arial" panose="020B0604020202020204" pitchFamily="34" charset="0"/>
                <a:cs typeface="Arial" panose="020B0604020202020204" pitchFamily="34" charset="0"/>
              </a:rPr>
              <a:t>los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modos</a:t>
            </a:r>
            <a:r>
              <a:rPr lang="en-US" sz="1200" dirty="0">
                <a:solidFill>
                  <a:srgbClr val="FF0000"/>
                </a:solidFill>
                <a:latin typeface="Arial" panose="020B0604020202020204" pitchFamily="34" charset="0"/>
                <a:cs typeface="Arial" panose="020B0604020202020204" pitchFamily="34" charset="0"/>
              </a:rPr>
              <a:t> TM, Ey, la </a:t>
            </a:r>
            <a:r>
              <a:rPr lang="en-US" sz="1200" dirty="0" err="1">
                <a:solidFill>
                  <a:srgbClr val="FF0000"/>
                </a:solidFill>
                <a:latin typeface="Arial" panose="020B0604020202020204" pitchFamily="34" charset="0"/>
                <a:cs typeface="Arial" panose="020B0604020202020204" pitchFamily="34" charset="0"/>
              </a:rPr>
              <a:t>vbariación</a:t>
            </a:r>
            <a:r>
              <a:rPr lang="en-US" sz="1200" dirty="0">
                <a:solidFill>
                  <a:srgbClr val="FF0000"/>
                </a:solidFill>
                <a:latin typeface="Arial" panose="020B0604020202020204" pitchFamily="34" charset="0"/>
                <a:cs typeface="Arial" panose="020B0604020202020204" pitchFamily="34" charset="0"/>
              </a:rPr>
              <a:t> es vertical, modo par e impar, </a:t>
            </a:r>
            <a:r>
              <a:rPr lang="en-US" sz="1200" dirty="0" err="1">
                <a:solidFill>
                  <a:srgbClr val="FF0000"/>
                </a:solidFill>
                <a:latin typeface="Arial" panose="020B0604020202020204" pitchFamily="34" charset="0"/>
                <a:cs typeface="Arial" panose="020B0604020202020204" pitchFamily="34" charset="0"/>
              </a:rPr>
              <a:t>misma</a:t>
            </a:r>
            <a:r>
              <a:rPr lang="en-US" sz="1200" dirty="0">
                <a:solidFill>
                  <a:srgbClr val="FF0000"/>
                </a:solidFill>
                <a:latin typeface="Arial" panose="020B0604020202020204" pitchFamily="34" charset="0"/>
                <a:cs typeface="Arial" panose="020B0604020202020204" pitchFamily="34" charset="0"/>
              </a:rPr>
              <a:t> o </a:t>
            </a:r>
            <a:r>
              <a:rPr lang="en-US" sz="1200" dirty="0" err="1">
                <a:solidFill>
                  <a:srgbClr val="FF0000"/>
                </a:solidFill>
                <a:latin typeface="Arial" panose="020B0604020202020204" pitchFamily="34" charset="0"/>
                <a:cs typeface="Arial" panose="020B0604020202020204" pitchFamily="34" charset="0"/>
              </a:rPr>
              <a:t>contrafase</a:t>
            </a:r>
            <a:r>
              <a:rPr lang="en-US" sz="1200" dirty="0">
                <a:solidFill>
                  <a:srgbClr val="FF0000"/>
                </a:solidFill>
                <a:latin typeface="Arial" panose="020B0604020202020204" pitchFamily="34" charset="0"/>
                <a:cs typeface="Arial" panose="020B0604020202020204" pitchFamily="34" charset="0"/>
              </a:rPr>
              <a:t>.</a:t>
            </a:r>
          </a:p>
          <a:p>
            <a:pPr algn="just"/>
            <a:r>
              <a:rPr lang="en-US" sz="1200" dirty="0">
                <a:solidFill>
                  <a:srgbClr val="FF0000"/>
                </a:solidFill>
                <a:latin typeface="Arial" panose="020B0604020202020204" pitchFamily="34" charset="0"/>
                <a:cs typeface="Arial" panose="020B0604020202020204" pitchFamily="34" charset="0"/>
              </a:rPr>
              <a:t>Estamos </a:t>
            </a:r>
            <a:r>
              <a:rPr lang="en-US" sz="1200" dirty="0" err="1">
                <a:solidFill>
                  <a:srgbClr val="FF0000"/>
                </a:solidFill>
                <a:latin typeface="Arial" panose="020B0604020202020204" pitchFamily="34" charset="0"/>
                <a:cs typeface="Arial" panose="020B0604020202020204" pitchFamily="34" charset="0"/>
              </a:rPr>
              <a:t>viendo</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los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supermodos</a:t>
            </a:r>
            <a:r>
              <a:rPr lang="en-US" sz="1200" dirty="0">
                <a:solidFill>
                  <a:srgbClr val="FF0000"/>
                </a:solidFill>
                <a:latin typeface="Arial" panose="020B0604020202020204" pitchFamily="34" charset="0"/>
                <a:cs typeface="Arial" panose="020B0604020202020204" pitchFamily="34" charset="0"/>
              </a:rPr>
              <a:t> q se </a:t>
            </a:r>
            <a:r>
              <a:rPr lang="en-US" sz="1200" dirty="0" err="1">
                <a:solidFill>
                  <a:srgbClr val="FF0000"/>
                </a:solidFill>
                <a:latin typeface="Arial" panose="020B0604020202020204" pitchFamily="34" charset="0"/>
                <a:cs typeface="Arial" panose="020B0604020202020204" pitchFamily="34" charset="0"/>
              </a:rPr>
              <a:t>propagan</a:t>
            </a:r>
            <a:r>
              <a:rPr lang="en-US" sz="1200" dirty="0">
                <a:solidFill>
                  <a:srgbClr val="FF0000"/>
                </a:solidFill>
                <a:latin typeface="Arial" panose="020B0604020202020204" pitchFamily="34" charset="0"/>
                <a:cs typeface="Arial" panose="020B0604020202020204" pitchFamily="34" charset="0"/>
              </a:rPr>
              <a:t> x la </a:t>
            </a:r>
            <a:r>
              <a:rPr lang="en-US" sz="1200" dirty="0" err="1">
                <a:solidFill>
                  <a:srgbClr val="FF0000"/>
                </a:solidFill>
                <a:latin typeface="Arial" panose="020B0604020202020204" pitchFamily="34" charset="0"/>
                <a:cs typeface="Arial" panose="020B0604020202020204" pitchFamily="34" charset="0"/>
              </a:rPr>
              <a:t>estructyra</a:t>
            </a:r>
            <a:r>
              <a:rPr lang="en-US" sz="1200" dirty="0">
                <a:solidFill>
                  <a:srgbClr val="FF0000"/>
                </a:solidFill>
                <a:latin typeface="Arial" panose="020B0604020202020204" pitchFamily="34" charset="0"/>
                <a:cs typeface="Arial" panose="020B0604020202020204" pitchFamily="34" charset="0"/>
              </a:rPr>
              <a:t>.</a:t>
            </a:r>
          </a:p>
          <a:p>
            <a:pPr algn="just"/>
            <a:endParaRPr lang="en-US" sz="1200" dirty="0">
              <a:solidFill>
                <a:srgbClr val="FF0000"/>
              </a:solidFill>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La longitude de </a:t>
            </a:r>
            <a:r>
              <a:rPr lang="en-US" sz="1200" dirty="0" err="1">
                <a:solidFill>
                  <a:srgbClr val="FF0000"/>
                </a:solidFill>
                <a:latin typeface="Arial" panose="020B0604020202020204" pitchFamily="34" charset="0"/>
                <a:cs typeface="Arial" panose="020B0604020202020204" pitchFamily="34" charset="0"/>
              </a:rPr>
              <a:t>acoplo</a:t>
            </a:r>
            <a:r>
              <a:rPr lang="en-US" sz="1200" dirty="0">
                <a:solidFill>
                  <a:srgbClr val="FF0000"/>
                </a:solidFill>
                <a:latin typeface="Arial" panose="020B0604020202020204" pitchFamily="34" charset="0"/>
                <a:cs typeface="Arial" panose="020B0604020202020204" pitchFamily="34" charset="0"/>
              </a:rPr>
              <a:t> es la q a </a:t>
            </a:r>
            <a:r>
              <a:rPr lang="en-US" sz="1200" dirty="0" err="1">
                <a:solidFill>
                  <a:srgbClr val="FF0000"/>
                </a:solidFill>
                <a:latin typeface="Arial" panose="020B0604020202020204" pitchFamily="34" charset="0"/>
                <a:cs typeface="Arial" panose="020B0604020202020204" pitchFamily="34" charset="0"/>
              </a:rPr>
              <a:t>partir</a:t>
            </a:r>
            <a:r>
              <a:rPr lang="en-US" sz="1200" dirty="0">
                <a:solidFill>
                  <a:srgbClr val="FF0000"/>
                </a:solidFill>
                <a:latin typeface="Arial" panose="020B0604020202020204" pitchFamily="34" charset="0"/>
                <a:cs typeface="Arial" panose="020B0604020202020204" pitchFamily="34" charset="0"/>
              </a:rPr>
              <a:t> de la </a:t>
            </a:r>
            <a:r>
              <a:rPr lang="en-US" sz="1200" dirty="0" err="1">
                <a:solidFill>
                  <a:srgbClr val="FF0000"/>
                </a:solidFill>
                <a:latin typeface="Arial" panose="020B0604020202020204" pitchFamily="34" charset="0"/>
                <a:cs typeface="Arial" panose="020B0604020202020204" pitchFamily="34" charset="0"/>
              </a:rPr>
              <a:t>cual</a:t>
            </a:r>
            <a:r>
              <a:rPr lang="en-US" sz="1200" dirty="0">
                <a:solidFill>
                  <a:srgbClr val="FF0000"/>
                </a:solidFill>
                <a:latin typeface="Arial" panose="020B0604020202020204" pitchFamily="34" charset="0"/>
                <a:cs typeface="Arial" panose="020B0604020202020204" pitchFamily="34" charset="0"/>
              </a:rPr>
              <a:t> se van a </a:t>
            </a:r>
            <a:r>
              <a:rPr lang="en-US" sz="1200" dirty="0" err="1">
                <a:solidFill>
                  <a:srgbClr val="FF0000"/>
                </a:solidFill>
                <a:latin typeface="Arial" panose="020B0604020202020204" pitchFamily="34" charset="0"/>
                <a:cs typeface="Arial" panose="020B0604020202020204" pitchFamily="34" charset="0"/>
              </a:rPr>
              <a:t>acoplar</a:t>
            </a:r>
            <a:r>
              <a:rPr lang="en-US" sz="1200" dirty="0">
                <a:solidFill>
                  <a:srgbClr val="FF0000"/>
                </a:solidFill>
                <a:latin typeface="Arial" panose="020B0604020202020204" pitchFamily="34" charset="0"/>
                <a:cs typeface="Arial" panose="020B0604020202020204" pitchFamily="34" charset="0"/>
              </a:rPr>
              <a:t> ambas </a:t>
            </a:r>
            <a:r>
              <a:rPr lang="en-US" sz="1200" dirty="0" err="1">
                <a:solidFill>
                  <a:srgbClr val="FF0000"/>
                </a:solidFill>
                <a:latin typeface="Arial" panose="020B0604020202020204" pitchFamily="34" charset="0"/>
                <a:cs typeface="Arial" panose="020B0604020202020204" pitchFamily="34" charset="0"/>
              </a:rPr>
              <a:t>guias</a:t>
            </a:r>
            <a:r>
              <a:rPr lang="en-US" sz="1200" dirty="0">
                <a:solidFill>
                  <a:srgbClr val="FF0000"/>
                </a:solidFill>
                <a:latin typeface="Arial" panose="020B0604020202020204" pitchFamily="34" charset="0"/>
                <a:cs typeface="Arial" panose="020B0604020202020204" pitchFamily="34" charset="0"/>
              </a:rPr>
              <a:t>.</a:t>
            </a:r>
          </a:p>
          <a:p>
            <a:pPr algn="just"/>
            <a:r>
              <a:rPr lang="en-US" sz="1200" dirty="0" err="1">
                <a:solidFill>
                  <a:srgbClr val="FF0000"/>
                </a:solidFill>
                <a:latin typeface="Arial" panose="020B0604020202020204" pitchFamily="34" charset="0"/>
                <a:cs typeface="Arial" panose="020B0604020202020204" pitchFamily="34" charset="0"/>
              </a:rPr>
              <a:t>Lpi</a:t>
            </a:r>
            <a:r>
              <a:rPr lang="en-US" sz="1200" dirty="0">
                <a:solidFill>
                  <a:srgbClr val="FF0000"/>
                </a:solidFill>
                <a:latin typeface="Arial" panose="020B0604020202020204" pitchFamily="34" charset="0"/>
                <a:cs typeface="Arial" panose="020B0604020202020204" pitchFamily="34" charset="0"/>
              </a:rPr>
              <a:t> es la longitude </a:t>
            </a:r>
            <a:r>
              <a:rPr lang="en-US" sz="1200" dirty="0" err="1">
                <a:solidFill>
                  <a:srgbClr val="FF0000"/>
                </a:solidFill>
                <a:latin typeface="Arial" panose="020B0604020202020204" pitchFamily="34" charset="0"/>
                <a:cs typeface="Arial" panose="020B0604020202020204" pitchFamily="34" charset="0"/>
              </a:rPr>
              <a:t>en</a:t>
            </a:r>
            <a:r>
              <a:rPr lang="en-US" sz="1200" dirty="0">
                <a:solidFill>
                  <a:srgbClr val="FF0000"/>
                </a:solidFill>
                <a:latin typeface="Arial" panose="020B0604020202020204" pitchFamily="34" charset="0"/>
                <a:cs typeface="Arial" panose="020B0604020202020204" pitchFamily="34" charset="0"/>
              </a:rPr>
              <a:t> la q se </a:t>
            </a:r>
            <a:r>
              <a:rPr lang="en-US" sz="1200" dirty="0" err="1">
                <a:solidFill>
                  <a:srgbClr val="FF0000"/>
                </a:solidFill>
                <a:latin typeface="Arial" panose="020B0604020202020204" pitchFamily="34" charset="0"/>
                <a:cs typeface="Arial" panose="020B0604020202020204" pitchFamily="34" charset="0"/>
              </a:rPr>
              <a:t>tranfiere</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toda</a:t>
            </a:r>
            <a:r>
              <a:rPr lang="en-US" sz="1200" dirty="0">
                <a:solidFill>
                  <a:srgbClr val="FF0000"/>
                </a:solidFill>
                <a:latin typeface="Arial" panose="020B0604020202020204" pitchFamily="34" charset="0"/>
                <a:cs typeface="Arial" panose="020B0604020202020204" pitchFamily="34" charset="0"/>
              </a:rPr>
              <a:t> la </a:t>
            </a:r>
            <a:r>
              <a:rPr lang="en-US" sz="1200" dirty="0" err="1">
                <a:solidFill>
                  <a:srgbClr val="FF0000"/>
                </a:solidFill>
                <a:latin typeface="Arial" panose="020B0604020202020204" pitchFamily="34" charset="0"/>
                <a:cs typeface="Arial" panose="020B0604020202020204" pitchFamily="34" charset="0"/>
              </a:rPr>
              <a:t>energía</a:t>
            </a:r>
            <a:r>
              <a:rPr lang="en-US" sz="1200" dirty="0">
                <a:solidFill>
                  <a:srgbClr val="FF0000"/>
                </a:solidFill>
                <a:latin typeface="Arial" panose="020B0604020202020204" pitchFamily="34" charset="0"/>
                <a:cs typeface="Arial" panose="020B0604020202020204" pitchFamily="34" charset="0"/>
              </a:rPr>
              <a:t> d </a:t>
            </a:r>
            <a:r>
              <a:rPr lang="en-US" sz="1200" dirty="0" err="1">
                <a:solidFill>
                  <a:srgbClr val="FF0000"/>
                </a:solidFill>
                <a:latin typeface="Arial" panose="020B0604020202020204" pitchFamily="34" charset="0"/>
                <a:cs typeface="Arial" panose="020B0604020202020204" pitchFamily="34" charset="0"/>
              </a:rPr>
              <a:t>euna</a:t>
            </a:r>
            <a:r>
              <a:rPr lang="en-US" sz="1200" dirty="0">
                <a:solidFill>
                  <a:srgbClr val="FF0000"/>
                </a:solidFill>
                <a:latin typeface="Arial" panose="020B0604020202020204" pitchFamily="34" charset="0"/>
                <a:cs typeface="Arial" panose="020B0604020202020204" pitchFamily="34" charset="0"/>
              </a:rPr>
              <a:t> a </a:t>
            </a:r>
            <a:r>
              <a:rPr lang="en-US" sz="1200" dirty="0" err="1">
                <a:solidFill>
                  <a:srgbClr val="FF0000"/>
                </a:solidFill>
                <a:latin typeface="Arial" panose="020B0604020202020204" pitchFamily="34" charset="0"/>
                <a:cs typeface="Arial" panose="020B0604020202020204" pitchFamily="34" charset="0"/>
              </a:rPr>
              <a:t>otra</a:t>
            </a:r>
            <a:r>
              <a:rPr lang="en-US" sz="1200" dirty="0">
                <a:solidFill>
                  <a:srgbClr val="FF0000"/>
                </a:solidFill>
                <a:latin typeface="Arial" panose="020B0604020202020204" pitchFamily="34" charset="0"/>
                <a:cs typeface="Arial" panose="020B0604020202020204" pitchFamily="34" charset="0"/>
              </a:rPr>
              <a:t>. = </a:t>
            </a:r>
            <a:r>
              <a:rPr lang="en-US" sz="1200" dirty="0" err="1">
                <a:solidFill>
                  <a:srgbClr val="FF0000"/>
                </a:solidFill>
                <a:latin typeface="Arial" panose="020B0604020202020204" pitchFamily="34" charset="0"/>
                <a:cs typeface="Arial" panose="020B0604020202020204" pitchFamily="34" charset="0"/>
              </a:rPr>
              <a:t>Logitud</a:t>
            </a:r>
            <a:r>
              <a:rPr lang="en-US" sz="1200" dirty="0">
                <a:solidFill>
                  <a:srgbClr val="FF0000"/>
                </a:solidFill>
                <a:latin typeface="Arial" panose="020B0604020202020204" pitchFamily="34" charset="0"/>
                <a:cs typeface="Arial" panose="020B0604020202020204" pitchFamily="34" charset="0"/>
              </a:rPr>
              <a:t> de </a:t>
            </a:r>
            <a:r>
              <a:rPr lang="en-US" sz="1200" dirty="0" err="1">
                <a:solidFill>
                  <a:srgbClr val="FF0000"/>
                </a:solidFill>
                <a:latin typeface="Arial" panose="020B0604020202020204" pitchFamily="34" charset="0"/>
                <a:cs typeface="Arial" panose="020B0604020202020204" pitchFamily="34" charset="0"/>
              </a:rPr>
              <a:t>acoplo</a:t>
            </a:r>
            <a:endParaRPr lang="en-US" sz="1200" dirty="0">
              <a:solidFill>
                <a:srgbClr val="FF0000"/>
              </a:solidFill>
              <a:latin typeface="Arial" panose="020B0604020202020204" pitchFamily="34" charset="0"/>
              <a:cs typeface="Arial" panose="020B0604020202020204" pitchFamily="34" charset="0"/>
            </a:endParaRPr>
          </a:p>
          <a:p>
            <a:pPr algn="just"/>
            <a:endParaRPr lang="en-US" sz="1200" dirty="0">
              <a:solidFill>
                <a:srgbClr val="FF0000"/>
              </a:solidFill>
              <a:latin typeface="Arial" panose="020B0604020202020204" pitchFamily="34" charset="0"/>
              <a:cs typeface="Arial" panose="020B0604020202020204" pitchFamily="34" charset="0"/>
            </a:endParaRPr>
          </a:p>
          <a:p>
            <a:pPr algn="just"/>
            <a:endParaRPr lang="en-US" sz="1200" dirty="0">
              <a:solidFill>
                <a:srgbClr val="FF0000"/>
              </a:solidFill>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Hacer </a:t>
            </a:r>
            <a:r>
              <a:rPr lang="en-US" sz="1200" dirty="0" err="1">
                <a:solidFill>
                  <a:srgbClr val="FF0000"/>
                </a:solidFill>
                <a:latin typeface="Arial" panose="020B0604020202020204" pitchFamily="34" charset="0"/>
                <a:cs typeface="Arial" panose="020B0604020202020204" pitchFamily="34" charset="0"/>
              </a:rPr>
              <a:t>los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cálculos</a:t>
            </a:r>
            <a:r>
              <a:rPr lang="en-US" sz="1200" dirty="0">
                <a:solidFill>
                  <a:srgbClr val="FF0000"/>
                </a:solidFill>
                <a:latin typeface="Arial" panose="020B0604020202020204" pitchFamily="34" charset="0"/>
                <a:cs typeface="Arial" panose="020B0604020202020204" pitchFamily="34" charset="0"/>
              </a:rPr>
              <a:t> q se </a:t>
            </a:r>
            <a:r>
              <a:rPr lang="en-US" sz="1200" dirty="0" err="1">
                <a:solidFill>
                  <a:srgbClr val="FF0000"/>
                </a:solidFill>
                <a:latin typeface="Arial" panose="020B0604020202020204" pitchFamily="34" charset="0"/>
                <a:cs typeface="Arial" panose="020B0604020202020204" pitchFamily="34" charset="0"/>
              </a:rPr>
              <a:t>piden</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gráficas</a:t>
            </a:r>
            <a:r>
              <a:rPr lang="en-US" sz="1200" dirty="0">
                <a:solidFill>
                  <a:srgbClr val="FF0000"/>
                </a:solidFill>
                <a:latin typeface="Arial" panose="020B0604020202020204" pitchFamily="34" charset="0"/>
                <a:cs typeface="Arial" panose="020B0604020202020204" pitchFamily="34" charset="0"/>
              </a:rPr>
              <a:t> y </a:t>
            </a:r>
            <a:r>
              <a:rPr lang="en-US" sz="1200" dirty="0" err="1">
                <a:solidFill>
                  <a:srgbClr val="FF0000"/>
                </a:solidFill>
                <a:latin typeface="Arial" panose="020B0604020202020204" pitchFamily="34" charset="0"/>
                <a:cs typeface="Arial" panose="020B0604020202020204" pitchFamily="34" charset="0"/>
              </a:rPr>
              <a:t>comentar</a:t>
            </a:r>
            <a:endParaRPr lang="en-US" sz="1200" dirty="0">
              <a:solidFill>
                <a:srgbClr val="FF0000"/>
              </a:solidFill>
              <a:latin typeface="Arial" panose="020B0604020202020204" pitchFamily="34" charset="0"/>
              <a:cs typeface="Arial" panose="020B0604020202020204" pitchFamily="34" charset="0"/>
            </a:endParaRPr>
          </a:p>
          <a:p>
            <a:pPr algn="just"/>
            <a:r>
              <a:rPr lang="en-US" sz="1200" dirty="0" err="1">
                <a:solidFill>
                  <a:srgbClr val="FF0000"/>
                </a:solidFill>
                <a:latin typeface="Arial" panose="020B0604020202020204" pitchFamily="34" charset="0"/>
                <a:cs typeface="Arial" panose="020B0604020202020204" pitchFamily="34" charset="0"/>
              </a:rPr>
              <a:t>Relacionar</a:t>
            </a:r>
            <a:r>
              <a:rPr lang="en-US" sz="1200" dirty="0">
                <a:solidFill>
                  <a:srgbClr val="FF0000"/>
                </a:solidFill>
                <a:latin typeface="Arial" panose="020B0604020202020204" pitchFamily="34" charset="0"/>
                <a:cs typeface="Arial" panose="020B0604020202020204" pitchFamily="34" charset="0"/>
              </a:rPr>
              <a:t> la </a:t>
            </a:r>
            <a:r>
              <a:rPr lang="en-US" sz="1200" dirty="0" err="1">
                <a:solidFill>
                  <a:srgbClr val="FF0000"/>
                </a:solidFill>
                <a:latin typeface="Arial" panose="020B0604020202020204" pitchFamily="34" charset="0"/>
                <a:cs typeface="Arial" panose="020B0604020202020204" pitchFamily="34" charset="0"/>
              </a:rPr>
              <a:t>Lpi</a:t>
            </a:r>
            <a:r>
              <a:rPr lang="en-US" sz="1200" dirty="0">
                <a:solidFill>
                  <a:srgbClr val="FF0000"/>
                </a:solidFill>
                <a:latin typeface="Arial" panose="020B0604020202020204" pitchFamily="34" charset="0"/>
                <a:cs typeface="Arial" panose="020B0604020202020204" pitchFamily="34" charset="0"/>
              </a:rPr>
              <a:t> con la </a:t>
            </a:r>
            <a:r>
              <a:rPr lang="en-US" sz="1200" dirty="0" err="1">
                <a:solidFill>
                  <a:srgbClr val="FF0000"/>
                </a:solidFill>
                <a:latin typeface="Arial" panose="020B0604020202020204" pitchFamily="34" charset="0"/>
                <a:cs typeface="Arial" panose="020B0604020202020204" pitchFamily="34" charset="0"/>
              </a:rPr>
              <a:t>contante</a:t>
            </a:r>
            <a:r>
              <a:rPr lang="en-US" sz="1200" dirty="0">
                <a:solidFill>
                  <a:srgbClr val="FF0000"/>
                </a:solidFill>
                <a:latin typeface="Arial" panose="020B0604020202020204" pitchFamily="34" charset="0"/>
                <a:cs typeface="Arial" panose="020B0604020202020204" pitchFamily="34" charset="0"/>
              </a:rPr>
              <a:t> de </a:t>
            </a:r>
            <a:r>
              <a:rPr lang="en-US" sz="1200" dirty="0" err="1">
                <a:solidFill>
                  <a:srgbClr val="FF0000"/>
                </a:solidFill>
                <a:latin typeface="Arial" panose="020B0604020202020204" pitchFamily="34" charset="0"/>
                <a:cs typeface="Arial" panose="020B0604020202020204" pitchFamily="34" charset="0"/>
              </a:rPr>
              <a:t>acoplo</a:t>
            </a:r>
            <a:r>
              <a:rPr lang="en-US" sz="1200" dirty="0">
                <a:solidFill>
                  <a:srgbClr val="FF0000"/>
                </a:solidFill>
                <a:latin typeface="Arial" panose="020B0604020202020204" pitchFamily="34" charset="0"/>
                <a:cs typeface="Arial" panose="020B0604020202020204" pitchFamily="34" charset="0"/>
              </a:rPr>
              <a:t> K</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Ver </a:t>
            </a:r>
            <a:r>
              <a:rPr lang="en-US" sz="1200" dirty="0" err="1">
                <a:solidFill>
                  <a:srgbClr val="FF0000"/>
                </a:solidFill>
                <a:latin typeface="Arial" panose="020B0604020202020204" pitchFamily="34" charset="0"/>
                <a:cs typeface="Arial" panose="020B0604020202020204" pitchFamily="34" charset="0"/>
              </a:rPr>
              <a:t>como</a:t>
            </a:r>
            <a:r>
              <a:rPr lang="en-US" sz="1200" dirty="0">
                <a:solidFill>
                  <a:srgbClr val="FF0000"/>
                </a:solidFill>
                <a:latin typeface="Arial" panose="020B0604020202020204" pitchFamily="34" charset="0"/>
                <a:cs typeface="Arial" panose="020B0604020202020204" pitchFamily="34" charset="0"/>
              </a:rPr>
              <a:t> se </a:t>
            </a:r>
            <a:r>
              <a:rPr lang="en-US" sz="1200" dirty="0" err="1">
                <a:solidFill>
                  <a:srgbClr val="FF0000"/>
                </a:solidFill>
                <a:latin typeface="Arial" panose="020B0604020202020204" pitchFamily="34" charset="0"/>
                <a:cs typeface="Arial" panose="020B0604020202020204" pitchFamily="34" charset="0"/>
              </a:rPr>
              <a:t>acopla</a:t>
            </a:r>
            <a:r>
              <a:rPr lang="en-US" sz="1200" dirty="0">
                <a:solidFill>
                  <a:srgbClr val="FF0000"/>
                </a:solidFill>
                <a:latin typeface="Arial" panose="020B0604020202020204" pitchFamily="34" charset="0"/>
                <a:cs typeface="Arial" panose="020B0604020202020204" pitchFamily="34" charset="0"/>
              </a:rPr>
              <a:t> la luz de </a:t>
            </a:r>
            <a:r>
              <a:rPr lang="en-US" sz="1200" dirty="0" err="1">
                <a:solidFill>
                  <a:srgbClr val="FF0000"/>
                </a:solidFill>
                <a:latin typeface="Arial" panose="020B0604020202020204" pitchFamily="34" charset="0"/>
                <a:cs typeface="Arial" panose="020B0604020202020204" pitchFamily="34" charset="0"/>
              </a:rPr>
              <a:t>una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guía</a:t>
            </a:r>
            <a:r>
              <a:rPr lang="en-US" sz="1200" dirty="0">
                <a:solidFill>
                  <a:srgbClr val="FF0000"/>
                </a:solidFill>
                <a:latin typeface="Arial" panose="020B0604020202020204" pitchFamily="34" charset="0"/>
                <a:cs typeface="Arial" panose="020B0604020202020204" pitchFamily="34" charset="0"/>
              </a:rPr>
              <a:t> a la </a:t>
            </a:r>
            <a:r>
              <a:rPr lang="en-US" sz="1200" dirty="0" err="1">
                <a:solidFill>
                  <a:srgbClr val="FF0000"/>
                </a:solidFill>
                <a:latin typeface="Arial" panose="020B0604020202020204" pitchFamily="34" charset="0"/>
                <a:cs typeface="Arial" panose="020B0604020202020204" pitchFamily="34" charset="0"/>
              </a:rPr>
              <a:t>otra</a:t>
            </a:r>
            <a:r>
              <a:rPr lang="en-US" sz="1200" dirty="0">
                <a:solidFill>
                  <a:srgbClr val="FF0000"/>
                </a:solidFill>
                <a:latin typeface="Arial" panose="020B0604020202020204" pitchFamily="34" charset="0"/>
                <a:cs typeface="Arial" panose="020B0604020202020204" pitchFamily="34" charset="0"/>
              </a:rPr>
              <a:t>. SOLAMENTE HAY QUE TOCAR LOS PARÁMETROS QUE PONE # Student, NADA MÁS.</a:t>
            </a:r>
          </a:p>
          <a:p>
            <a:pPr algn="just"/>
            <a:r>
              <a:rPr lang="en-US" sz="1200" dirty="0" err="1">
                <a:solidFill>
                  <a:srgbClr val="FF0000"/>
                </a:solidFill>
                <a:latin typeface="Arial" panose="020B0604020202020204" pitchFamily="34" charset="0"/>
                <a:cs typeface="Arial" panose="020B0604020202020204" pitchFamily="34" charset="0"/>
              </a:rPr>
              <a:t>Ir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cambiando</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el</a:t>
            </a:r>
            <a:r>
              <a:rPr lang="en-US" sz="1200" dirty="0">
                <a:solidFill>
                  <a:srgbClr val="FF0000"/>
                </a:solidFill>
                <a:latin typeface="Arial" panose="020B0604020202020204" pitchFamily="34" charset="0"/>
                <a:cs typeface="Arial" panose="020B0604020202020204" pitchFamily="34" charset="0"/>
              </a:rPr>
              <a:t> gap </a:t>
            </a:r>
            <a:r>
              <a:rPr lang="en-US" sz="1200" dirty="0" err="1">
                <a:solidFill>
                  <a:srgbClr val="FF0000"/>
                </a:solidFill>
                <a:latin typeface="Arial" panose="020B0604020202020204" pitchFamily="34" charset="0"/>
                <a:cs typeface="Arial" panose="020B0604020202020204" pitchFamily="34" charset="0"/>
              </a:rPr>
              <a:t>en</a:t>
            </a:r>
            <a:r>
              <a:rPr lang="en-US" sz="1200" dirty="0">
                <a:solidFill>
                  <a:srgbClr val="FF0000"/>
                </a:solidFill>
                <a:latin typeface="Arial" panose="020B0604020202020204" pitchFamily="34" charset="0"/>
                <a:cs typeface="Arial" panose="020B0604020202020204" pitchFamily="34" charset="0"/>
              </a:rPr>
              <a:t> pasos de 0,2, </a:t>
            </a:r>
            <a:r>
              <a:rPr lang="en-US" sz="1200" dirty="0" err="1">
                <a:solidFill>
                  <a:srgbClr val="FF0000"/>
                </a:solidFill>
                <a:latin typeface="Arial" panose="020B0604020202020204" pitchFamily="34" charset="0"/>
                <a:cs typeface="Arial" panose="020B0604020202020204" pitchFamily="34" charset="0"/>
              </a:rPr>
              <a:t>manualmente</a:t>
            </a:r>
            <a:r>
              <a:rPr lang="en-US" sz="1200" dirty="0">
                <a:solidFill>
                  <a:srgbClr val="FF0000"/>
                </a:solidFill>
                <a:latin typeface="Arial" panose="020B0604020202020204" pitchFamily="34" charset="0"/>
                <a:cs typeface="Arial" panose="020B0604020202020204" pitchFamily="34" charset="0"/>
              </a:rPr>
              <a:t> sin for y </a:t>
            </a:r>
            <a:r>
              <a:rPr lang="en-US" sz="1200" dirty="0" err="1">
                <a:solidFill>
                  <a:srgbClr val="FF0000"/>
                </a:solidFill>
                <a:latin typeface="Arial" panose="020B0604020202020204" pitchFamily="34" charset="0"/>
                <a:cs typeface="Arial" panose="020B0604020202020204" pitchFamily="34" charset="0"/>
              </a:rPr>
              <a:t>vamos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viendo</a:t>
            </a:r>
            <a:r>
              <a:rPr lang="en-US" sz="1200" dirty="0">
                <a:solidFill>
                  <a:srgbClr val="FF0000"/>
                </a:solidFill>
                <a:latin typeface="Arial" panose="020B0604020202020204" pitchFamily="34" charset="0"/>
                <a:cs typeface="Arial" panose="020B0604020202020204" pitchFamily="34" charset="0"/>
              </a:rPr>
              <a:t> y </a:t>
            </a:r>
            <a:r>
              <a:rPr lang="en-US" sz="1200" dirty="0" err="1">
                <a:solidFill>
                  <a:srgbClr val="FF0000"/>
                </a:solidFill>
                <a:latin typeface="Arial" panose="020B0604020202020204" pitchFamily="34" charset="0"/>
                <a:cs typeface="Arial" panose="020B0604020202020204" pitchFamily="34" charset="0"/>
              </a:rPr>
              <a:t>capturando</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los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resultados</a:t>
            </a:r>
            <a:r>
              <a:rPr lang="en-US" sz="1200" dirty="0">
                <a:solidFill>
                  <a:srgbClr val="FF0000"/>
                </a:solidFill>
                <a:latin typeface="Arial" panose="020B0604020202020204" pitchFamily="34" charset="0"/>
                <a:cs typeface="Arial" panose="020B0604020202020204" pitchFamily="34" charset="0"/>
              </a:rPr>
              <a:t> y </a:t>
            </a:r>
            <a:r>
              <a:rPr lang="en-US" sz="1200" dirty="0" err="1">
                <a:solidFill>
                  <a:srgbClr val="FF0000"/>
                </a:solidFill>
                <a:latin typeface="Arial" panose="020B0604020202020204" pitchFamily="34" charset="0"/>
                <a:cs typeface="Arial" panose="020B0604020202020204" pitchFamily="34" charset="0"/>
              </a:rPr>
              <a:t>comentando</a:t>
            </a:r>
            <a:r>
              <a:rPr lang="en-US" sz="1200" dirty="0">
                <a:solidFill>
                  <a:srgbClr val="FF0000"/>
                </a:solidFill>
                <a:latin typeface="Arial" panose="020B0604020202020204" pitchFamily="34" charset="0"/>
                <a:cs typeface="Arial" panose="020B0604020202020204" pitchFamily="34" charset="0"/>
              </a:rPr>
              <a:t>.</a:t>
            </a:r>
          </a:p>
          <a:p>
            <a:pPr algn="just"/>
            <a:endParaRPr lang="en-US" sz="1200" dirty="0">
              <a:solidFill>
                <a:srgbClr val="FF0000"/>
              </a:solidFill>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228601" y="1418373"/>
            <a:ext cx="11734800" cy="3171821"/>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ángulo 3">
            <a:extLst>
              <a:ext uri="{FF2B5EF4-FFF2-40B4-BE49-F238E27FC236}">
                <a16:creationId xmlns:a16="http://schemas.microsoft.com/office/drawing/2014/main" id="{E79CB579-8A40-521B-C5FD-7C236A05F796}"/>
              </a:ext>
            </a:extLst>
          </p:cNvPr>
          <p:cNvSpPr/>
          <p:nvPr/>
        </p:nvSpPr>
        <p:spPr>
          <a:xfrm>
            <a:off x="228600" y="1418372"/>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70A4D896-5397-A7AD-510D-75DFEE87FDC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91968" y="1531811"/>
            <a:ext cx="1624243" cy="664072"/>
          </a:xfrm>
          <a:prstGeom prst="rect">
            <a:avLst/>
          </a:prstGeom>
          <a:noFill/>
          <a:extLst>
            <a:ext uri="{909E8E84-426E-40DD-AFC4-6F175D3DCCD1}">
              <a14:hiddenFill xmlns:a14="http://schemas.microsoft.com/office/drawing/2010/main">
                <a:solidFill>
                  <a:srgbClr val="FFFFFF"/>
                </a:solidFill>
              </a14:hiddenFill>
            </a:ext>
          </a:extLst>
        </p:spPr>
      </p:pic>
      <p:sp>
        <p:nvSpPr>
          <p:cNvPr id="9" name="CuadroTexto 8">
            <a:extLst>
              <a:ext uri="{FF2B5EF4-FFF2-40B4-BE49-F238E27FC236}">
                <a16:creationId xmlns:a16="http://schemas.microsoft.com/office/drawing/2014/main" id="{FCD04733-37F7-66EE-D004-56A635AF78D8}"/>
              </a:ext>
            </a:extLst>
          </p:cNvPr>
          <p:cNvSpPr txBox="1"/>
          <p:nvPr/>
        </p:nvSpPr>
        <p:spPr>
          <a:xfrm>
            <a:off x="285420" y="2389978"/>
            <a:ext cx="1837338" cy="1754326"/>
          </a:xfrm>
          <a:prstGeom prst="rect">
            <a:avLst/>
          </a:prstGeom>
          <a:noFill/>
        </p:spPr>
        <p:txBody>
          <a:bodyPr wrap="square">
            <a:spAutoFit/>
          </a:bodyPr>
          <a:lstStyle/>
          <a:p>
            <a:pPr>
              <a:buNone/>
            </a:pPr>
            <a:r>
              <a:rPr lang="en-US" sz="900" dirty="0">
                <a:effectLst/>
              </a:rPr>
              <a:t>------- </a:t>
            </a:r>
            <a:r>
              <a:rPr lang="en-US" sz="900" dirty="0" err="1">
                <a:effectLst/>
              </a:rPr>
              <a:t>Pameters</a:t>
            </a:r>
            <a:r>
              <a:rPr lang="en-US" sz="900" dirty="0">
                <a:effectLst/>
              </a:rPr>
              <a:t> -------</a:t>
            </a:r>
          </a:p>
          <a:p>
            <a:pPr>
              <a:buNone/>
            </a:pPr>
            <a:r>
              <a:rPr lang="en-US" sz="900" dirty="0">
                <a:effectLst/>
              </a:rPr>
              <a:t>MMI length 12.9071</a:t>
            </a:r>
          </a:p>
          <a:p>
            <a:pPr>
              <a:buNone/>
            </a:pPr>
            <a:r>
              <a:rPr lang="en-US" sz="900" dirty="0">
                <a:effectLst/>
              </a:rPr>
              <a:t>MMI length increment 0.0000</a:t>
            </a:r>
          </a:p>
          <a:p>
            <a:pPr>
              <a:buNone/>
            </a:pPr>
            <a:r>
              <a:rPr lang="en-US" sz="900" dirty="0">
                <a:effectLst/>
              </a:rPr>
              <a:t>IO </a:t>
            </a:r>
            <a:r>
              <a:rPr lang="en-US" sz="900" dirty="0" err="1">
                <a:effectLst/>
              </a:rPr>
              <a:t>wg</a:t>
            </a:r>
            <a:r>
              <a:rPr lang="en-US" sz="900" dirty="0">
                <a:effectLst/>
              </a:rPr>
              <a:t> width 1.0000</a:t>
            </a:r>
          </a:p>
          <a:p>
            <a:pPr>
              <a:buNone/>
            </a:pPr>
            <a:r>
              <a:rPr lang="en-US" sz="900" dirty="0">
                <a:effectLst/>
              </a:rPr>
              <a:t>IO </a:t>
            </a:r>
            <a:r>
              <a:rPr lang="en-US" sz="900" dirty="0" err="1">
                <a:effectLst/>
              </a:rPr>
              <a:t>wg</a:t>
            </a:r>
            <a:r>
              <a:rPr lang="en-US" sz="900" dirty="0">
                <a:effectLst/>
              </a:rPr>
              <a:t> width increment 0.0000</a:t>
            </a:r>
          </a:p>
          <a:p>
            <a:pPr>
              <a:buNone/>
            </a:pPr>
            <a:r>
              <a:rPr lang="en-US" sz="900" dirty="0">
                <a:effectLst/>
              </a:rPr>
              <a:t>------------------------</a:t>
            </a:r>
          </a:p>
          <a:p>
            <a:pPr>
              <a:buNone/>
            </a:pPr>
            <a:r>
              <a:rPr lang="en-US" sz="900" dirty="0">
                <a:effectLst/>
              </a:rPr>
              <a:t>Total power IN coupled 0.7802</a:t>
            </a:r>
          </a:p>
          <a:p>
            <a:pPr>
              <a:buNone/>
            </a:pPr>
            <a:r>
              <a:rPr lang="en-US" sz="900" dirty="0">
                <a:effectLst/>
              </a:rPr>
              <a:t>Total OUT power: 0.7586</a:t>
            </a:r>
          </a:p>
          <a:p>
            <a:pPr>
              <a:buNone/>
            </a:pPr>
            <a:r>
              <a:rPr lang="en-US" sz="900" dirty="0">
                <a:effectLst/>
              </a:rPr>
              <a:t>Excess loss [dB] =  1.2000</a:t>
            </a:r>
          </a:p>
          <a:p>
            <a:pPr>
              <a:buNone/>
            </a:pPr>
            <a:r>
              <a:rPr lang="en-US" sz="900" dirty="0">
                <a:effectLst/>
              </a:rPr>
              <a:t>------------------------</a:t>
            </a:r>
          </a:p>
          <a:p>
            <a:pPr>
              <a:buNone/>
            </a:pPr>
            <a:r>
              <a:rPr lang="en-US" sz="900" dirty="0">
                <a:effectLst/>
              </a:rPr>
              <a:t>Power over OUTs:  ['0.3792', '0.3794’]</a:t>
            </a:r>
          </a:p>
          <a:p>
            <a:pPr>
              <a:buNone/>
            </a:pPr>
            <a:r>
              <a:rPr lang="en-US" sz="900" dirty="0">
                <a:effectLst/>
              </a:rPr>
              <a:t>Ratio over OUTs ['0.4999', '0.5001']</a:t>
            </a:r>
            <a:endParaRPr lang="en-US" sz="900" dirty="0"/>
          </a:p>
        </p:txBody>
      </p:sp>
      <p:sp>
        <p:nvSpPr>
          <p:cNvPr id="10" name="CuadroTexto 9">
            <a:extLst>
              <a:ext uri="{FF2B5EF4-FFF2-40B4-BE49-F238E27FC236}">
                <a16:creationId xmlns:a16="http://schemas.microsoft.com/office/drawing/2014/main" id="{7676FA06-7892-4EB0-347C-1CF2C7C01ED3}"/>
              </a:ext>
            </a:extLst>
          </p:cNvPr>
          <p:cNvSpPr txBox="1"/>
          <p:nvPr/>
        </p:nvSpPr>
        <p:spPr>
          <a:xfrm>
            <a:off x="285420" y="4307292"/>
            <a:ext cx="1837338" cy="246221"/>
          </a:xfrm>
          <a:prstGeom prst="rect">
            <a:avLst/>
          </a:prstGeom>
          <a:noFill/>
        </p:spPr>
        <p:txBody>
          <a:bodyPr wrap="square">
            <a:spAutoFit/>
          </a:bodyPr>
          <a:lstStyle/>
          <a:p>
            <a:pPr algn="ctr">
              <a:buNone/>
            </a:pPr>
            <a:r>
              <a:rPr lang="en-US" sz="1000" dirty="0"/>
              <a:t>Gap = 0.2</a:t>
            </a:r>
          </a:p>
        </p:txBody>
      </p:sp>
      <p:sp>
        <p:nvSpPr>
          <p:cNvPr id="11" name="Rectángulo 10">
            <a:extLst>
              <a:ext uri="{FF2B5EF4-FFF2-40B4-BE49-F238E27FC236}">
                <a16:creationId xmlns:a16="http://schemas.microsoft.com/office/drawing/2014/main" id="{6E9D1AB3-A93D-46F8-E7F4-997685FDE2C8}"/>
              </a:ext>
            </a:extLst>
          </p:cNvPr>
          <p:cNvSpPr/>
          <p:nvPr/>
        </p:nvSpPr>
        <p:spPr>
          <a:xfrm>
            <a:off x="2184718" y="1417195"/>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2">
            <a:extLst>
              <a:ext uri="{FF2B5EF4-FFF2-40B4-BE49-F238E27FC236}">
                <a16:creationId xmlns:a16="http://schemas.microsoft.com/office/drawing/2014/main" id="{DA25A72A-79BF-9806-109F-AC49325C99FE}"/>
              </a:ext>
            </a:extLst>
          </p:cNvPr>
          <p:cNvPicPr>
            <a:picLocks noChangeAspect="1" noChangeArrowheads="1"/>
          </p:cNvPicPr>
          <p:nvPr/>
        </p:nvPicPr>
        <p:blipFill>
          <a:blip r:embed="rId6"/>
          <a:srcRect/>
          <a:stretch/>
        </p:blipFill>
        <p:spPr bwMode="auto">
          <a:xfrm>
            <a:off x="2348086" y="1605545"/>
            <a:ext cx="1624243" cy="514249"/>
          </a:xfrm>
          <a:prstGeom prst="rect">
            <a:avLst/>
          </a:prstGeom>
          <a:noFill/>
          <a:extLst>
            <a:ext uri="{909E8E84-426E-40DD-AFC4-6F175D3DCCD1}">
              <a14:hiddenFill xmlns:a14="http://schemas.microsoft.com/office/drawing/2010/main">
                <a:solidFill>
                  <a:srgbClr val="FFFFFF"/>
                </a:solidFill>
              </a14:hiddenFill>
            </a:ext>
          </a:extLst>
        </p:spPr>
      </p:pic>
      <p:sp>
        <p:nvSpPr>
          <p:cNvPr id="13" name="CuadroTexto 12">
            <a:extLst>
              <a:ext uri="{FF2B5EF4-FFF2-40B4-BE49-F238E27FC236}">
                <a16:creationId xmlns:a16="http://schemas.microsoft.com/office/drawing/2014/main" id="{A817E037-D47E-AC52-394C-12635B048FAA}"/>
              </a:ext>
            </a:extLst>
          </p:cNvPr>
          <p:cNvSpPr txBox="1"/>
          <p:nvPr/>
        </p:nvSpPr>
        <p:spPr>
          <a:xfrm>
            <a:off x="2241538" y="2388801"/>
            <a:ext cx="1837338" cy="1892826"/>
          </a:xfrm>
          <a:prstGeom prst="rect">
            <a:avLst/>
          </a:prstGeom>
          <a:noFill/>
        </p:spPr>
        <p:txBody>
          <a:bodyPr wrap="square">
            <a:spAutoFit/>
          </a:bodyPr>
          <a:lstStyle/>
          <a:p>
            <a:pPr>
              <a:buNone/>
            </a:pPr>
            <a:r>
              <a:rPr lang="en-US" sz="900" dirty="0"/>
              <a:t>------- </a:t>
            </a:r>
            <a:r>
              <a:rPr lang="en-US" sz="900" dirty="0" err="1"/>
              <a:t>Pameters</a:t>
            </a:r>
            <a:r>
              <a:rPr lang="en-US" sz="900" dirty="0"/>
              <a:t> -------</a:t>
            </a:r>
            <a:br>
              <a:rPr lang="en-US" sz="900" dirty="0"/>
            </a:br>
            <a:r>
              <a:rPr lang="en-US" sz="900" dirty="0"/>
              <a:t>MMI length 25.0550</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0.8983</a:t>
            </a:r>
            <a:br>
              <a:rPr lang="en-US" sz="900" dirty="0"/>
            </a:br>
            <a:r>
              <a:rPr lang="en-US" sz="900" dirty="0"/>
              <a:t>Total OUT power: 0.8863</a:t>
            </a:r>
            <a:br>
              <a:rPr lang="en-US" sz="900" dirty="0"/>
            </a:br>
            <a:r>
              <a:rPr lang="en-US" sz="900" dirty="0"/>
              <a:t>Excess loss [dB] =  0.5243</a:t>
            </a:r>
            <a:br>
              <a:rPr lang="en-US" sz="900" dirty="0"/>
            </a:br>
            <a:r>
              <a:rPr lang="en-US" sz="900" dirty="0"/>
              <a:t>------------------------</a:t>
            </a:r>
            <a:br>
              <a:rPr lang="en-US" sz="900" dirty="0"/>
            </a:br>
            <a:r>
              <a:rPr lang="en-US" sz="900" dirty="0"/>
              <a:t>Power over OUTs:  ['0.4433', '0.4430']</a:t>
            </a:r>
            <a:br>
              <a:rPr lang="en-US" sz="900" dirty="0"/>
            </a:br>
            <a:r>
              <a:rPr lang="en-US" sz="900" dirty="0"/>
              <a:t>Ratio over OUTs ['0.5001', '0.4999']</a:t>
            </a:r>
          </a:p>
        </p:txBody>
      </p:sp>
      <p:sp>
        <p:nvSpPr>
          <p:cNvPr id="14" name="CuadroTexto 13">
            <a:extLst>
              <a:ext uri="{FF2B5EF4-FFF2-40B4-BE49-F238E27FC236}">
                <a16:creationId xmlns:a16="http://schemas.microsoft.com/office/drawing/2014/main" id="{8D6A9C22-541A-0262-5DE6-373F890DE8D7}"/>
              </a:ext>
            </a:extLst>
          </p:cNvPr>
          <p:cNvSpPr txBox="1"/>
          <p:nvPr/>
        </p:nvSpPr>
        <p:spPr>
          <a:xfrm>
            <a:off x="2241538" y="4306115"/>
            <a:ext cx="1837338" cy="246221"/>
          </a:xfrm>
          <a:prstGeom prst="rect">
            <a:avLst/>
          </a:prstGeom>
          <a:noFill/>
        </p:spPr>
        <p:txBody>
          <a:bodyPr wrap="square">
            <a:spAutoFit/>
          </a:bodyPr>
          <a:lstStyle/>
          <a:p>
            <a:pPr algn="ctr">
              <a:buNone/>
            </a:pPr>
            <a:r>
              <a:rPr lang="en-US" sz="1000" dirty="0"/>
              <a:t>Gap = 0.4</a:t>
            </a:r>
          </a:p>
        </p:txBody>
      </p:sp>
      <p:sp>
        <p:nvSpPr>
          <p:cNvPr id="15" name="Rectángulo 14">
            <a:extLst>
              <a:ext uri="{FF2B5EF4-FFF2-40B4-BE49-F238E27FC236}">
                <a16:creationId xmlns:a16="http://schemas.microsoft.com/office/drawing/2014/main" id="{69345945-3F04-8EF7-4B59-FF2AF19B58EC}"/>
              </a:ext>
            </a:extLst>
          </p:cNvPr>
          <p:cNvSpPr/>
          <p:nvPr/>
        </p:nvSpPr>
        <p:spPr>
          <a:xfrm>
            <a:off x="4155096" y="1430349"/>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2">
            <a:extLst>
              <a:ext uri="{FF2B5EF4-FFF2-40B4-BE49-F238E27FC236}">
                <a16:creationId xmlns:a16="http://schemas.microsoft.com/office/drawing/2014/main" id="{47351C2B-31F5-065B-E11C-7FF085844DB5}"/>
              </a:ext>
            </a:extLst>
          </p:cNvPr>
          <p:cNvPicPr>
            <a:picLocks noChangeAspect="1" noChangeArrowheads="1"/>
          </p:cNvPicPr>
          <p:nvPr/>
        </p:nvPicPr>
        <p:blipFill>
          <a:blip r:embed="rId7"/>
          <a:srcRect/>
          <a:stretch/>
        </p:blipFill>
        <p:spPr bwMode="auto">
          <a:xfrm>
            <a:off x="4318464" y="1669281"/>
            <a:ext cx="1624243" cy="413086"/>
          </a:xfrm>
          <a:prstGeom prst="rect">
            <a:avLst/>
          </a:prstGeom>
          <a:noFill/>
          <a:extLst>
            <a:ext uri="{909E8E84-426E-40DD-AFC4-6F175D3DCCD1}">
              <a14:hiddenFill xmlns:a14="http://schemas.microsoft.com/office/drawing/2010/main">
                <a:solidFill>
                  <a:srgbClr val="FFFFFF"/>
                </a:solidFill>
              </a14:hiddenFill>
            </a:ext>
          </a:extLst>
        </p:spPr>
      </p:pic>
      <p:sp>
        <p:nvSpPr>
          <p:cNvPr id="18" name="CuadroTexto 17">
            <a:extLst>
              <a:ext uri="{FF2B5EF4-FFF2-40B4-BE49-F238E27FC236}">
                <a16:creationId xmlns:a16="http://schemas.microsoft.com/office/drawing/2014/main" id="{7AC66D83-F2E1-4983-8926-E4FE372A648B}"/>
              </a:ext>
            </a:extLst>
          </p:cNvPr>
          <p:cNvSpPr txBox="1"/>
          <p:nvPr/>
        </p:nvSpPr>
        <p:spPr>
          <a:xfrm>
            <a:off x="4211916" y="2401955"/>
            <a:ext cx="1837338" cy="1892826"/>
          </a:xfrm>
          <a:prstGeom prst="rect">
            <a:avLst/>
          </a:prstGeom>
          <a:noFill/>
        </p:spPr>
        <p:txBody>
          <a:bodyPr wrap="square">
            <a:spAutoFit/>
          </a:bodyPr>
          <a:lstStyle/>
          <a:p>
            <a:pPr>
              <a:buNone/>
            </a:pPr>
            <a:r>
              <a:rPr lang="en-US" sz="900" dirty="0"/>
              <a:t>------- </a:t>
            </a:r>
            <a:r>
              <a:rPr lang="en-US" sz="900" dirty="0" err="1"/>
              <a:t>Pameters</a:t>
            </a:r>
            <a:r>
              <a:rPr lang="en-US" sz="900" dirty="0"/>
              <a:t> -------</a:t>
            </a:r>
            <a:br>
              <a:rPr lang="en-US" sz="900" dirty="0"/>
            </a:br>
            <a:r>
              <a:rPr lang="en-US" sz="900" dirty="0"/>
              <a:t>MMI length 47.0137</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0.9688</a:t>
            </a:r>
            <a:br>
              <a:rPr lang="en-US" sz="900" dirty="0"/>
            </a:br>
            <a:r>
              <a:rPr lang="en-US" sz="900" dirty="0"/>
              <a:t>Total OUT power: 0.9583</a:t>
            </a:r>
            <a:br>
              <a:rPr lang="en-US" sz="900" dirty="0"/>
            </a:br>
            <a:r>
              <a:rPr lang="en-US" sz="900" dirty="0"/>
              <a:t>Excess loss [dB] =  0.1851</a:t>
            </a:r>
            <a:br>
              <a:rPr lang="en-US" sz="900" dirty="0"/>
            </a:br>
            <a:r>
              <a:rPr lang="en-US" sz="900" dirty="0"/>
              <a:t>------------------------</a:t>
            </a:r>
            <a:br>
              <a:rPr lang="en-US" sz="900" dirty="0"/>
            </a:br>
            <a:r>
              <a:rPr lang="en-US" sz="900" dirty="0"/>
              <a:t>Power over OUTs:  ['0.4791', '0.4791']</a:t>
            </a:r>
            <a:br>
              <a:rPr lang="en-US" sz="900" dirty="0"/>
            </a:br>
            <a:r>
              <a:rPr lang="en-US" sz="900" dirty="0"/>
              <a:t>Ratio over OUTs ['0.5000', '0.5000']</a:t>
            </a:r>
          </a:p>
        </p:txBody>
      </p:sp>
      <p:sp>
        <p:nvSpPr>
          <p:cNvPr id="19" name="CuadroTexto 18">
            <a:extLst>
              <a:ext uri="{FF2B5EF4-FFF2-40B4-BE49-F238E27FC236}">
                <a16:creationId xmlns:a16="http://schemas.microsoft.com/office/drawing/2014/main" id="{1EE1672C-D49B-6E74-253B-D94775444269}"/>
              </a:ext>
            </a:extLst>
          </p:cNvPr>
          <p:cNvSpPr txBox="1"/>
          <p:nvPr/>
        </p:nvSpPr>
        <p:spPr>
          <a:xfrm>
            <a:off x="4211916" y="4319269"/>
            <a:ext cx="1837338" cy="246221"/>
          </a:xfrm>
          <a:prstGeom prst="rect">
            <a:avLst/>
          </a:prstGeom>
          <a:noFill/>
        </p:spPr>
        <p:txBody>
          <a:bodyPr wrap="square">
            <a:spAutoFit/>
          </a:bodyPr>
          <a:lstStyle/>
          <a:p>
            <a:pPr algn="ctr">
              <a:buNone/>
            </a:pPr>
            <a:r>
              <a:rPr lang="en-US" sz="1000" dirty="0"/>
              <a:t>Gap = 0.6</a:t>
            </a:r>
          </a:p>
        </p:txBody>
      </p:sp>
      <p:sp>
        <p:nvSpPr>
          <p:cNvPr id="20" name="Rectángulo 19">
            <a:extLst>
              <a:ext uri="{FF2B5EF4-FFF2-40B4-BE49-F238E27FC236}">
                <a16:creationId xmlns:a16="http://schemas.microsoft.com/office/drawing/2014/main" id="{44C01FA7-6D56-8B6C-1A4F-71FB45C3BEDF}"/>
              </a:ext>
            </a:extLst>
          </p:cNvPr>
          <p:cNvSpPr/>
          <p:nvPr/>
        </p:nvSpPr>
        <p:spPr>
          <a:xfrm>
            <a:off x="6106077" y="1430483"/>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Picture 2">
            <a:extLst>
              <a:ext uri="{FF2B5EF4-FFF2-40B4-BE49-F238E27FC236}">
                <a16:creationId xmlns:a16="http://schemas.microsoft.com/office/drawing/2014/main" id="{677234DE-6E70-A48D-E0A8-5D816B89722B}"/>
              </a:ext>
            </a:extLst>
          </p:cNvPr>
          <p:cNvPicPr>
            <a:picLocks noChangeAspect="1" noChangeArrowheads="1"/>
          </p:cNvPicPr>
          <p:nvPr/>
        </p:nvPicPr>
        <p:blipFill>
          <a:blip r:embed="rId8"/>
          <a:srcRect/>
          <a:stretch/>
        </p:blipFill>
        <p:spPr bwMode="auto">
          <a:xfrm>
            <a:off x="6269445" y="1704541"/>
            <a:ext cx="1624243" cy="342833"/>
          </a:xfrm>
          <a:prstGeom prst="rect">
            <a:avLst/>
          </a:prstGeom>
          <a:noFill/>
          <a:extLst>
            <a:ext uri="{909E8E84-426E-40DD-AFC4-6F175D3DCCD1}">
              <a14:hiddenFill xmlns:a14="http://schemas.microsoft.com/office/drawing/2010/main">
                <a:solidFill>
                  <a:srgbClr val="FFFFFF"/>
                </a:solidFill>
              </a14:hiddenFill>
            </a:ext>
          </a:extLst>
        </p:spPr>
      </p:pic>
      <p:sp>
        <p:nvSpPr>
          <p:cNvPr id="22" name="CuadroTexto 21">
            <a:extLst>
              <a:ext uri="{FF2B5EF4-FFF2-40B4-BE49-F238E27FC236}">
                <a16:creationId xmlns:a16="http://schemas.microsoft.com/office/drawing/2014/main" id="{BCC789A3-A3A5-AD98-0C00-952077643F00}"/>
              </a:ext>
            </a:extLst>
          </p:cNvPr>
          <p:cNvSpPr txBox="1"/>
          <p:nvPr/>
        </p:nvSpPr>
        <p:spPr>
          <a:xfrm>
            <a:off x="6162897" y="2402089"/>
            <a:ext cx="1837338" cy="1892826"/>
          </a:xfrm>
          <a:prstGeom prst="rect">
            <a:avLst/>
          </a:prstGeom>
          <a:noFill/>
        </p:spPr>
        <p:txBody>
          <a:bodyPr wrap="square">
            <a:spAutoFit/>
          </a:bodyPr>
          <a:lstStyle/>
          <a:p>
            <a:pPr>
              <a:buNone/>
            </a:pPr>
            <a:r>
              <a:rPr lang="en-US" sz="900" dirty="0"/>
              <a:t>------- </a:t>
            </a:r>
            <a:r>
              <a:rPr lang="en-US" sz="900" dirty="0" err="1"/>
              <a:t>Pameters</a:t>
            </a:r>
            <a:r>
              <a:rPr lang="en-US" sz="900" dirty="0"/>
              <a:t> -------</a:t>
            </a:r>
            <a:br>
              <a:rPr lang="en-US" sz="900" dirty="0"/>
            </a:br>
            <a:r>
              <a:rPr lang="en-US" sz="900" dirty="0"/>
              <a:t>MMI length 86.9819</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0.9882</a:t>
            </a:r>
            <a:br>
              <a:rPr lang="en-US" sz="900" dirty="0"/>
            </a:br>
            <a:r>
              <a:rPr lang="en-US" sz="900" dirty="0"/>
              <a:t>Total OUT power: 0.9778</a:t>
            </a:r>
            <a:br>
              <a:rPr lang="en-US" sz="900" dirty="0"/>
            </a:br>
            <a:r>
              <a:rPr lang="en-US" sz="900" dirty="0"/>
              <a:t>Excess loss [dB] =  0.0976</a:t>
            </a:r>
            <a:br>
              <a:rPr lang="en-US" sz="900" dirty="0"/>
            </a:br>
            <a:r>
              <a:rPr lang="en-US" sz="900" dirty="0"/>
              <a:t>------------------------</a:t>
            </a:r>
            <a:br>
              <a:rPr lang="en-US" sz="900" dirty="0"/>
            </a:br>
            <a:r>
              <a:rPr lang="en-US" sz="900" dirty="0"/>
              <a:t>Power over OUTs:  ['0.4888', '0.4890']</a:t>
            </a:r>
            <a:br>
              <a:rPr lang="en-US" sz="900" dirty="0"/>
            </a:br>
            <a:r>
              <a:rPr lang="en-US" sz="900" dirty="0"/>
              <a:t>Ratio over OUTs ['0.4999', '0.5001']</a:t>
            </a:r>
          </a:p>
        </p:txBody>
      </p:sp>
      <p:sp>
        <p:nvSpPr>
          <p:cNvPr id="23" name="CuadroTexto 22">
            <a:extLst>
              <a:ext uri="{FF2B5EF4-FFF2-40B4-BE49-F238E27FC236}">
                <a16:creationId xmlns:a16="http://schemas.microsoft.com/office/drawing/2014/main" id="{93D7B3FA-A830-4241-3B92-95DA9EBB4619}"/>
              </a:ext>
            </a:extLst>
          </p:cNvPr>
          <p:cNvSpPr txBox="1"/>
          <p:nvPr/>
        </p:nvSpPr>
        <p:spPr>
          <a:xfrm>
            <a:off x="6162897" y="4319403"/>
            <a:ext cx="1837338" cy="246221"/>
          </a:xfrm>
          <a:prstGeom prst="rect">
            <a:avLst/>
          </a:prstGeom>
          <a:noFill/>
        </p:spPr>
        <p:txBody>
          <a:bodyPr wrap="square">
            <a:spAutoFit/>
          </a:bodyPr>
          <a:lstStyle/>
          <a:p>
            <a:pPr algn="ctr">
              <a:buNone/>
            </a:pPr>
            <a:r>
              <a:rPr lang="en-US" sz="1000" dirty="0"/>
              <a:t>Gap = 0.8</a:t>
            </a:r>
          </a:p>
        </p:txBody>
      </p:sp>
      <p:sp>
        <p:nvSpPr>
          <p:cNvPr id="24" name="Rectángulo 23">
            <a:extLst>
              <a:ext uri="{FF2B5EF4-FFF2-40B4-BE49-F238E27FC236}">
                <a16:creationId xmlns:a16="http://schemas.microsoft.com/office/drawing/2014/main" id="{161FDF41-FBF0-327D-EC75-C7A6E842C0EF}"/>
              </a:ext>
            </a:extLst>
          </p:cNvPr>
          <p:cNvSpPr/>
          <p:nvPr/>
        </p:nvSpPr>
        <p:spPr>
          <a:xfrm>
            <a:off x="8063278" y="1430349"/>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
            <a:extLst>
              <a:ext uri="{FF2B5EF4-FFF2-40B4-BE49-F238E27FC236}">
                <a16:creationId xmlns:a16="http://schemas.microsoft.com/office/drawing/2014/main" id="{2CFD097F-E5F9-5105-509E-5CD7F0407004}"/>
              </a:ext>
            </a:extLst>
          </p:cNvPr>
          <p:cNvPicPr>
            <a:picLocks noChangeAspect="1" noChangeArrowheads="1"/>
          </p:cNvPicPr>
          <p:nvPr/>
        </p:nvPicPr>
        <p:blipFill>
          <a:blip r:embed="rId9"/>
          <a:srcRect/>
          <a:stretch/>
        </p:blipFill>
        <p:spPr bwMode="auto">
          <a:xfrm>
            <a:off x="8226646" y="1725483"/>
            <a:ext cx="1624243" cy="300681"/>
          </a:xfrm>
          <a:prstGeom prst="rect">
            <a:avLst/>
          </a:prstGeom>
          <a:noFill/>
          <a:extLst>
            <a:ext uri="{909E8E84-426E-40DD-AFC4-6F175D3DCCD1}">
              <a14:hiddenFill xmlns:a14="http://schemas.microsoft.com/office/drawing/2010/main">
                <a:solidFill>
                  <a:srgbClr val="FFFFFF"/>
                </a:solidFill>
              </a14:hiddenFill>
            </a:ext>
          </a:extLst>
        </p:spPr>
      </p:pic>
      <p:sp>
        <p:nvSpPr>
          <p:cNvPr id="26" name="CuadroTexto 25">
            <a:extLst>
              <a:ext uri="{FF2B5EF4-FFF2-40B4-BE49-F238E27FC236}">
                <a16:creationId xmlns:a16="http://schemas.microsoft.com/office/drawing/2014/main" id="{0DB823DE-B21E-A73A-D38B-2CD5CD4221B6}"/>
              </a:ext>
            </a:extLst>
          </p:cNvPr>
          <p:cNvSpPr txBox="1"/>
          <p:nvPr/>
        </p:nvSpPr>
        <p:spPr>
          <a:xfrm>
            <a:off x="8120098" y="2401955"/>
            <a:ext cx="1837338" cy="1892826"/>
          </a:xfrm>
          <a:prstGeom prst="rect">
            <a:avLst/>
          </a:prstGeom>
          <a:noFill/>
        </p:spPr>
        <p:txBody>
          <a:bodyPr wrap="square">
            <a:spAutoFit/>
          </a:bodyPr>
          <a:lstStyle/>
          <a:p>
            <a:pPr>
              <a:buNone/>
            </a:pPr>
            <a:r>
              <a:rPr lang="en-US" sz="900" dirty="0"/>
              <a:t>------- </a:t>
            </a:r>
            <a:r>
              <a:rPr lang="en-US" sz="900" dirty="0" err="1"/>
              <a:t>Pameters</a:t>
            </a:r>
            <a:r>
              <a:rPr lang="en-US" sz="900" dirty="0"/>
              <a:t> -------</a:t>
            </a:r>
            <a:br>
              <a:rPr lang="en-US" sz="900" dirty="0"/>
            </a:br>
            <a:r>
              <a:rPr lang="en-US" sz="900" dirty="0"/>
              <a:t>MMI length 159.4421</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0.9663</a:t>
            </a:r>
            <a:br>
              <a:rPr lang="en-US" sz="900" dirty="0"/>
            </a:br>
            <a:r>
              <a:rPr lang="en-US" sz="900" dirty="0"/>
              <a:t>Total OUT power: 0.9560</a:t>
            </a:r>
            <a:br>
              <a:rPr lang="en-US" sz="900" dirty="0"/>
            </a:br>
            <a:r>
              <a:rPr lang="en-US" sz="900" dirty="0"/>
              <a:t>Excess loss [dB] =  0.1955</a:t>
            </a:r>
            <a:br>
              <a:rPr lang="en-US" sz="900" dirty="0"/>
            </a:br>
            <a:r>
              <a:rPr lang="en-US" sz="900" dirty="0"/>
              <a:t>------------------------</a:t>
            </a:r>
            <a:br>
              <a:rPr lang="en-US" sz="900" dirty="0"/>
            </a:br>
            <a:r>
              <a:rPr lang="en-US" sz="900" dirty="0"/>
              <a:t>Power over OUTs:  ['0.4778', '0.4782']</a:t>
            </a:r>
            <a:br>
              <a:rPr lang="en-US" sz="900" dirty="0"/>
            </a:br>
            <a:r>
              <a:rPr lang="en-US" sz="900" dirty="0"/>
              <a:t>Ratio over OUTs ['0.4998', '0.5002']</a:t>
            </a:r>
          </a:p>
        </p:txBody>
      </p:sp>
      <p:sp>
        <p:nvSpPr>
          <p:cNvPr id="27" name="CuadroTexto 26">
            <a:extLst>
              <a:ext uri="{FF2B5EF4-FFF2-40B4-BE49-F238E27FC236}">
                <a16:creationId xmlns:a16="http://schemas.microsoft.com/office/drawing/2014/main" id="{F9D0C682-7F6D-CFA4-421B-2F33E556A104}"/>
              </a:ext>
            </a:extLst>
          </p:cNvPr>
          <p:cNvSpPr txBox="1"/>
          <p:nvPr/>
        </p:nvSpPr>
        <p:spPr>
          <a:xfrm>
            <a:off x="8120098" y="4319269"/>
            <a:ext cx="1837338" cy="246221"/>
          </a:xfrm>
          <a:prstGeom prst="rect">
            <a:avLst/>
          </a:prstGeom>
          <a:noFill/>
        </p:spPr>
        <p:txBody>
          <a:bodyPr wrap="square">
            <a:spAutoFit/>
          </a:bodyPr>
          <a:lstStyle/>
          <a:p>
            <a:pPr algn="ctr">
              <a:buNone/>
            </a:pPr>
            <a:r>
              <a:rPr lang="en-US" sz="1000" dirty="0"/>
              <a:t>Gap = 1</a:t>
            </a:r>
          </a:p>
        </p:txBody>
      </p:sp>
      <p:sp>
        <p:nvSpPr>
          <p:cNvPr id="28" name="Rectángulo 27">
            <a:extLst>
              <a:ext uri="{FF2B5EF4-FFF2-40B4-BE49-F238E27FC236}">
                <a16:creationId xmlns:a16="http://schemas.microsoft.com/office/drawing/2014/main" id="{2A5973EC-23F9-E22D-E3B9-6EE556CB2158}"/>
              </a:ext>
            </a:extLst>
          </p:cNvPr>
          <p:cNvSpPr/>
          <p:nvPr/>
        </p:nvSpPr>
        <p:spPr>
          <a:xfrm>
            <a:off x="10020479" y="1426774"/>
            <a:ext cx="1950981" cy="315111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
            <a:extLst>
              <a:ext uri="{FF2B5EF4-FFF2-40B4-BE49-F238E27FC236}">
                <a16:creationId xmlns:a16="http://schemas.microsoft.com/office/drawing/2014/main" id="{53250557-7F3E-AA6C-6951-A7B69D21C507}"/>
              </a:ext>
            </a:extLst>
          </p:cNvPr>
          <p:cNvPicPr>
            <a:picLocks noChangeAspect="1" noChangeArrowheads="1"/>
          </p:cNvPicPr>
          <p:nvPr/>
        </p:nvPicPr>
        <p:blipFill>
          <a:blip r:embed="rId10"/>
          <a:srcRect/>
          <a:stretch/>
        </p:blipFill>
        <p:spPr bwMode="auto">
          <a:xfrm>
            <a:off x="10183847" y="1734554"/>
            <a:ext cx="1624243" cy="275390"/>
          </a:xfrm>
          <a:prstGeom prst="rect">
            <a:avLst/>
          </a:prstGeom>
          <a:noFill/>
          <a:extLst>
            <a:ext uri="{909E8E84-426E-40DD-AFC4-6F175D3DCCD1}">
              <a14:hiddenFill xmlns:a14="http://schemas.microsoft.com/office/drawing/2010/main">
                <a:solidFill>
                  <a:srgbClr val="FFFFFF"/>
                </a:solidFill>
              </a14:hiddenFill>
            </a:ext>
          </a:extLst>
        </p:spPr>
      </p:pic>
      <p:sp>
        <p:nvSpPr>
          <p:cNvPr id="30" name="CuadroTexto 29">
            <a:extLst>
              <a:ext uri="{FF2B5EF4-FFF2-40B4-BE49-F238E27FC236}">
                <a16:creationId xmlns:a16="http://schemas.microsoft.com/office/drawing/2014/main" id="{AF9633A7-64C7-3ADB-CA6F-B77AD2DD1474}"/>
              </a:ext>
            </a:extLst>
          </p:cNvPr>
          <p:cNvSpPr txBox="1"/>
          <p:nvPr/>
        </p:nvSpPr>
        <p:spPr>
          <a:xfrm>
            <a:off x="10077299" y="2398380"/>
            <a:ext cx="1837338" cy="1892826"/>
          </a:xfrm>
          <a:prstGeom prst="rect">
            <a:avLst/>
          </a:prstGeom>
          <a:noFill/>
        </p:spPr>
        <p:txBody>
          <a:bodyPr wrap="square">
            <a:spAutoFit/>
          </a:bodyPr>
          <a:lstStyle/>
          <a:p>
            <a:pPr>
              <a:buNone/>
            </a:pPr>
            <a:r>
              <a:rPr lang="en-US" sz="900" dirty="0"/>
              <a:t>------- </a:t>
            </a:r>
            <a:r>
              <a:rPr lang="en-US" sz="900" dirty="0" err="1"/>
              <a:t>Pameters</a:t>
            </a:r>
            <a:r>
              <a:rPr lang="en-US" sz="900" dirty="0"/>
              <a:t> -------</a:t>
            </a:r>
            <a:br>
              <a:rPr lang="en-US" sz="900" dirty="0"/>
            </a:br>
            <a:r>
              <a:rPr lang="en-US" sz="900" dirty="0"/>
              <a:t>MMI length 290.2147</a:t>
            </a:r>
            <a:br>
              <a:rPr lang="en-US" sz="900" dirty="0"/>
            </a:br>
            <a:r>
              <a:rPr lang="en-US" sz="900" dirty="0"/>
              <a:t>MMI length increment 0.0000</a:t>
            </a:r>
            <a:br>
              <a:rPr lang="en-US" sz="900" dirty="0"/>
            </a:br>
            <a:r>
              <a:rPr lang="en-US" sz="900" dirty="0"/>
              <a:t>IO </a:t>
            </a:r>
            <a:r>
              <a:rPr lang="en-US" sz="900" dirty="0" err="1"/>
              <a:t>wg</a:t>
            </a:r>
            <a:r>
              <a:rPr lang="en-US" sz="900" dirty="0"/>
              <a:t> width 1.0000</a:t>
            </a:r>
            <a:br>
              <a:rPr lang="en-US" sz="900" dirty="0"/>
            </a:br>
            <a:r>
              <a:rPr lang="en-US" sz="900" dirty="0"/>
              <a:t>IO </a:t>
            </a:r>
            <a:r>
              <a:rPr lang="en-US" sz="900" dirty="0" err="1"/>
              <a:t>wg</a:t>
            </a:r>
            <a:r>
              <a:rPr lang="en-US" sz="900" dirty="0"/>
              <a:t> width increment 0.0000</a:t>
            </a:r>
            <a:br>
              <a:rPr lang="en-US" sz="900" dirty="0"/>
            </a:br>
            <a:r>
              <a:rPr lang="en-US" sz="900" dirty="0"/>
              <a:t>------------------------</a:t>
            </a:r>
            <a:br>
              <a:rPr lang="en-US" sz="900" dirty="0"/>
            </a:br>
            <a:r>
              <a:rPr lang="en-US" sz="900" dirty="0"/>
              <a:t>Total power IN coupled 0.8916</a:t>
            </a:r>
            <a:br>
              <a:rPr lang="en-US" sz="900" dirty="0"/>
            </a:br>
            <a:r>
              <a:rPr lang="en-US" sz="900" dirty="0"/>
              <a:t>Total OUT power: 0.8818</a:t>
            </a:r>
            <a:br>
              <a:rPr lang="en-US" sz="900" dirty="0"/>
            </a:br>
            <a:r>
              <a:rPr lang="en-US" sz="900" dirty="0"/>
              <a:t>Excess loss [dB] =  0.5464</a:t>
            </a:r>
            <a:br>
              <a:rPr lang="en-US" sz="900" dirty="0"/>
            </a:br>
            <a:r>
              <a:rPr lang="en-US" sz="900" dirty="0"/>
              <a:t>------------------------</a:t>
            </a:r>
            <a:br>
              <a:rPr lang="en-US" sz="900" dirty="0"/>
            </a:br>
            <a:r>
              <a:rPr lang="en-US" sz="900" dirty="0"/>
              <a:t>Power over OUTs:  ['0.4407', '0.4410']</a:t>
            </a:r>
            <a:br>
              <a:rPr lang="en-US" sz="900" dirty="0"/>
            </a:br>
            <a:r>
              <a:rPr lang="en-US" sz="900" dirty="0"/>
              <a:t>Ratio over OUTs ['0.4998', '0.5002']</a:t>
            </a:r>
          </a:p>
        </p:txBody>
      </p:sp>
      <p:sp>
        <p:nvSpPr>
          <p:cNvPr id="31" name="CuadroTexto 30">
            <a:extLst>
              <a:ext uri="{FF2B5EF4-FFF2-40B4-BE49-F238E27FC236}">
                <a16:creationId xmlns:a16="http://schemas.microsoft.com/office/drawing/2014/main" id="{D81769C6-1D0B-FB20-83FF-48665185920B}"/>
              </a:ext>
            </a:extLst>
          </p:cNvPr>
          <p:cNvSpPr txBox="1"/>
          <p:nvPr/>
        </p:nvSpPr>
        <p:spPr>
          <a:xfrm>
            <a:off x="10077299" y="4315694"/>
            <a:ext cx="1837338" cy="246221"/>
          </a:xfrm>
          <a:prstGeom prst="rect">
            <a:avLst/>
          </a:prstGeom>
          <a:noFill/>
        </p:spPr>
        <p:txBody>
          <a:bodyPr wrap="square">
            <a:spAutoFit/>
          </a:bodyPr>
          <a:lstStyle/>
          <a:p>
            <a:pPr algn="ctr">
              <a:buNone/>
            </a:pPr>
            <a:r>
              <a:rPr lang="en-US" sz="1000" dirty="0"/>
              <a:t>Gap = 1.2</a:t>
            </a:r>
          </a:p>
        </p:txBody>
      </p:sp>
    </p:spTree>
    <p:extLst>
      <p:ext uri="{BB962C8B-B14F-4D97-AF65-F5344CB8AC3E}">
        <p14:creationId xmlns:p14="http://schemas.microsoft.com/office/powerpoint/2010/main" val="1558326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341632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r>
              <a:rPr lang="en-US" sz="1200" dirty="0" err="1">
                <a:solidFill>
                  <a:srgbClr val="FF0000"/>
                </a:solidFill>
                <a:latin typeface="Arial" panose="020B0604020202020204" pitchFamily="34" charset="0"/>
                <a:cs typeface="Arial" panose="020B0604020202020204" pitchFamily="34" charset="0"/>
              </a:rPr>
              <a:t>Ahora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queremos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que</a:t>
            </a:r>
            <a:r>
              <a:rPr lang="en-US" sz="1200" dirty="0">
                <a:solidFill>
                  <a:srgbClr val="FF0000"/>
                </a:solidFill>
                <a:latin typeface="Arial" panose="020B0604020202020204" pitchFamily="34" charset="0"/>
                <a:cs typeface="Arial" panose="020B0604020202020204" pitchFamily="34" charset="0"/>
              </a:rPr>
              <a:t> las </a:t>
            </a:r>
            <a:r>
              <a:rPr lang="en-US" sz="1200" dirty="0" err="1">
                <a:solidFill>
                  <a:srgbClr val="FF0000"/>
                </a:solidFill>
                <a:latin typeface="Arial" panose="020B0604020202020204" pitchFamily="34" charset="0"/>
                <a:cs typeface="Arial" panose="020B0604020202020204" pitchFamily="34" charset="0"/>
              </a:rPr>
              <a:t>guías</a:t>
            </a:r>
            <a:r>
              <a:rPr lang="en-US" sz="1200" dirty="0">
                <a:solidFill>
                  <a:srgbClr val="FF0000"/>
                </a:solidFill>
                <a:latin typeface="Arial" panose="020B0604020202020204" pitchFamily="34" charset="0"/>
                <a:cs typeface="Arial" panose="020B0604020202020204" pitchFamily="34" charset="0"/>
              </a:rPr>
              <a:t> no se </a:t>
            </a:r>
            <a:r>
              <a:rPr lang="en-US" sz="1200" dirty="0" err="1">
                <a:solidFill>
                  <a:srgbClr val="FF0000"/>
                </a:solidFill>
                <a:latin typeface="Arial" panose="020B0604020202020204" pitchFamily="34" charset="0"/>
                <a:cs typeface="Arial" panose="020B0604020202020204" pitchFamily="34" charset="0"/>
              </a:rPr>
              <a:t>acoplen</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evaluar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cual</a:t>
            </a:r>
            <a:r>
              <a:rPr lang="en-US" sz="1200" dirty="0">
                <a:solidFill>
                  <a:srgbClr val="FF0000"/>
                </a:solidFill>
                <a:latin typeface="Arial" panose="020B0604020202020204" pitchFamily="34" charset="0"/>
                <a:cs typeface="Arial" panose="020B0604020202020204" pitchFamily="34" charset="0"/>
              </a:rPr>
              <a:t> es la K y </a:t>
            </a:r>
            <a:r>
              <a:rPr lang="en-US" sz="1200" dirty="0" err="1">
                <a:solidFill>
                  <a:srgbClr val="FF0000"/>
                </a:solidFill>
                <a:latin typeface="Arial" panose="020B0604020202020204" pitchFamily="34" charset="0"/>
                <a:cs typeface="Arial" panose="020B0604020202020204" pitchFamily="34" charset="0"/>
              </a:rPr>
              <a:t>ver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que</a:t>
            </a:r>
            <a:r>
              <a:rPr lang="en-US" sz="1200" dirty="0">
                <a:solidFill>
                  <a:srgbClr val="FF0000"/>
                </a:solidFill>
                <a:latin typeface="Arial" panose="020B0604020202020204" pitchFamily="34" charset="0"/>
                <a:cs typeface="Arial" panose="020B0604020202020204" pitchFamily="34" charset="0"/>
              </a:rPr>
              <a:t> se </a:t>
            </a:r>
            <a:r>
              <a:rPr lang="en-US" sz="1200" dirty="0" err="1">
                <a:solidFill>
                  <a:srgbClr val="FF0000"/>
                </a:solidFill>
                <a:latin typeface="Arial" panose="020B0604020202020204" pitchFamily="34" charset="0"/>
                <a:cs typeface="Arial" panose="020B0604020202020204" pitchFamily="34" charset="0"/>
              </a:rPr>
              <a:t>mantenga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bajita</a:t>
            </a:r>
            <a:r>
              <a:rPr lang="en-US" sz="1200" dirty="0">
                <a:solidFill>
                  <a:srgbClr val="FF0000"/>
                </a:solidFill>
                <a:latin typeface="Arial" panose="020B0604020202020204" pitchFamily="34" charset="0"/>
                <a:cs typeface="Arial" panose="020B0604020202020204" pitchFamily="34" charset="0"/>
              </a:rPr>
              <a:t>, con dos </a:t>
            </a:r>
            <a:r>
              <a:rPr lang="en-US" sz="1200" dirty="0" err="1">
                <a:solidFill>
                  <a:srgbClr val="FF0000"/>
                </a:solidFill>
                <a:latin typeface="Arial" panose="020B0604020202020204" pitchFamily="34" charset="0"/>
                <a:cs typeface="Arial" panose="020B0604020202020204" pitchFamily="34" charset="0"/>
              </a:rPr>
              <a:t>guías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paralelas</a:t>
            </a:r>
            <a:r>
              <a:rPr lang="en-US" sz="1200" dirty="0">
                <a:solidFill>
                  <a:srgbClr val="FF0000"/>
                </a:solidFill>
                <a:latin typeface="Arial" panose="020B0604020202020204" pitchFamily="34" charset="0"/>
                <a:cs typeface="Arial" panose="020B0604020202020204" pitchFamily="34" charset="0"/>
              </a:rPr>
              <a:t>.</a:t>
            </a:r>
          </a:p>
          <a:p>
            <a:pPr algn="just"/>
            <a:endParaRPr lang="en-US" sz="1200" dirty="0">
              <a:solidFill>
                <a:srgbClr val="FF0000"/>
              </a:solidFill>
              <a:latin typeface="Arial" panose="020B0604020202020204" pitchFamily="34" charset="0"/>
              <a:cs typeface="Arial" panose="020B0604020202020204" pitchFamily="34" charset="0"/>
            </a:endParaRPr>
          </a:p>
          <a:p>
            <a:pPr algn="just"/>
            <a:r>
              <a:rPr lang="en-US" sz="1200" dirty="0" err="1">
                <a:solidFill>
                  <a:srgbClr val="FF0000"/>
                </a:solidFill>
                <a:latin typeface="Arial" panose="020B0604020202020204" pitchFamily="34" charset="0"/>
                <a:cs typeface="Arial" panose="020B0604020202020204" pitchFamily="34" charset="0"/>
              </a:rPr>
              <a:t>Calcular</a:t>
            </a:r>
            <a:r>
              <a:rPr lang="en-US" sz="1200" dirty="0">
                <a:solidFill>
                  <a:srgbClr val="FF0000"/>
                </a:solidFill>
                <a:latin typeface="Arial" panose="020B0604020202020204" pitchFamily="34" charset="0"/>
                <a:cs typeface="Arial" panose="020B0604020202020204" pitchFamily="34" charset="0"/>
              </a:rPr>
              <a:t> la </a:t>
            </a:r>
            <a:r>
              <a:rPr lang="en-US" sz="1200" dirty="0" err="1">
                <a:solidFill>
                  <a:srgbClr val="FF0000"/>
                </a:solidFill>
                <a:latin typeface="Arial" panose="020B0604020202020204" pitchFamily="34" charset="0"/>
                <a:cs typeface="Arial" panose="020B0604020202020204" pitchFamily="34" charset="0"/>
              </a:rPr>
              <a:t>Lpi</a:t>
            </a:r>
            <a:r>
              <a:rPr lang="en-US" sz="1200" dirty="0">
                <a:solidFill>
                  <a:srgbClr val="FF0000"/>
                </a:solidFill>
                <a:latin typeface="Arial" panose="020B0604020202020204" pitchFamily="34" charset="0"/>
                <a:cs typeface="Arial" panose="020B0604020202020204" pitchFamily="34" charset="0"/>
              </a:rPr>
              <a:t> 1º, 2º </a:t>
            </a:r>
            <a:r>
              <a:rPr lang="en-US" sz="1200" dirty="0" err="1">
                <a:solidFill>
                  <a:srgbClr val="FF0000"/>
                </a:solidFill>
                <a:latin typeface="Arial" panose="020B0604020202020204" pitchFamily="34" charset="0"/>
                <a:cs typeface="Arial" panose="020B0604020202020204" pitchFamily="34" charset="0"/>
              </a:rPr>
              <a:t>ver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cuando</a:t>
            </a:r>
            <a:r>
              <a:rPr lang="en-US" sz="1200" dirty="0">
                <a:solidFill>
                  <a:srgbClr val="FF0000"/>
                </a:solidFill>
                <a:latin typeface="Arial" panose="020B0604020202020204" pitchFamily="34" charset="0"/>
                <a:cs typeface="Arial" panose="020B0604020202020204" pitchFamily="34" charset="0"/>
              </a:rPr>
              <a:t> se satisfice la </a:t>
            </a:r>
            <a:r>
              <a:rPr lang="en-US" sz="1200" dirty="0" err="1">
                <a:solidFill>
                  <a:srgbClr val="FF0000"/>
                </a:solidFill>
                <a:latin typeface="Arial" panose="020B0604020202020204" pitchFamily="34" charset="0"/>
                <a:cs typeface="Arial" panose="020B0604020202020204" pitchFamily="34" charset="0"/>
              </a:rPr>
              <a:t>condición</a:t>
            </a:r>
            <a:r>
              <a:rPr lang="en-US" sz="1200" dirty="0">
                <a:solidFill>
                  <a:srgbClr val="FF0000"/>
                </a:solidFill>
                <a:latin typeface="Arial" panose="020B0604020202020204" pitchFamily="34" charset="0"/>
                <a:cs typeface="Arial" panose="020B0604020202020204" pitchFamily="34" charset="0"/>
              </a:rPr>
              <a:t> del K</a:t>
            </a:r>
          </a:p>
          <a:p>
            <a:pPr algn="just"/>
            <a:r>
              <a:rPr lang="en-US" sz="1200" dirty="0" err="1">
                <a:solidFill>
                  <a:srgbClr val="FF0000"/>
                </a:solidFill>
                <a:latin typeface="Arial" panose="020B0604020202020204" pitchFamily="34" charset="0"/>
                <a:cs typeface="Arial" panose="020B0604020202020204" pitchFamily="34" charset="0"/>
              </a:rPr>
              <a:t>Ir</a:t>
            </a:r>
            <a:r>
              <a:rPr lang="en-US" sz="1200" dirty="0">
                <a:solidFill>
                  <a:srgbClr val="FF0000"/>
                </a:solidFill>
                <a:latin typeface="Arial" panose="020B0604020202020204" pitchFamily="34" charset="0"/>
                <a:cs typeface="Arial" panose="020B0604020202020204" pitchFamily="34" charset="0"/>
              </a:rPr>
              <a:t> probando, </a:t>
            </a:r>
            <a:r>
              <a:rPr lang="en-US" sz="1200" dirty="0" err="1">
                <a:solidFill>
                  <a:srgbClr val="FF0000"/>
                </a:solidFill>
                <a:latin typeface="Arial" panose="020B0604020202020204" pitchFamily="34" charset="0"/>
                <a:cs typeface="Arial" panose="020B0604020202020204" pitchFamily="34" charset="0"/>
              </a:rPr>
              <a:t>cuando</a:t>
            </a:r>
            <a:r>
              <a:rPr lang="en-US" sz="1200" dirty="0">
                <a:solidFill>
                  <a:srgbClr val="FF0000"/>
                </a:solidFill>
                <a:latin typeface="Arial" panose="020B0604020202020204" pitchFamily="34" charset="0"/>
                <a:cs typeface="Arial" panose="020B0604020202020204" pitchFamily="34" charset="0"/>
              </a:rPr>
              <a:t> se </a:t>
            </a:r>
            <a:r>
              <a:rPr lang="en-US" sz="1200" dirty="0" err="1">
                <a:solidFill>
                  <a:srgbClr val="FF0000"/>
                </a:solidFill>
                <a:latin typeface="Arial" panose="020B0604020202020204" pitchFamily="34" charset="0"/>
                <a:cs typeface="Arial" panose="020B0604020202020204" pitchFamily="34" charset="0"/>
              </a:rPr>
              <a:t>tenga</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cerca</a:t>
            </a:r>
            <a:r>
              <a:rPr lang="en-US" sz="1200" dirty="0">
                <a:solidFill>
                  <a:srgbClr val="FF0000"/>
                </a:solidFill>
                <a:latin typeface="Arial" panose="020B0604020202020204" pitchFamily="34" charset="0"/>
                <a:cs typeface="Arial" panose="020B0604020202020204" pitchFamily="34" charset="0"/>
              </a:rPr>
              <a:t>, se </a:t>
            </a:r>
            <a:r>
              <a:rPr lang="en-US" sz="1200" dirty="0" err="1">
                <a:solidFill>
                  <a:srgbClr val="FF0000"/>
                </a:solidFill>
                <a:latin typeface="Arial" panose="020B0604020202020204" pitchFamily="34" charset="0"/>
                <a:cs typeface="Arial" panose="020B0604020202020204" pitchFamily="34" charset="0"/>
              </a:rPr>
              <a:t>hace</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barrido</a:t>
            </a:r>
            <a:r>
              <a:rPr lang="en-US" sz="1200" dirty="0">
                <a:solidFill>
                  <a:srgbClr val="FF0000"/>
                </a:solidFill>
                <a:latin typeface="Arial" panose="020B0604020202020204" pitchFamily="34" charset="0"/>
                <a:cs typeface="Arial" panose="020B0604020202020204" pitchFamily="34" charset="0"/>
              </a:rPr>
              <a:t> con mas precision.</a:t>
            </a:r>
          </a:p>
          <a:p>
            <a:pPr algn="just"/>
            <a:endParaRPr lang="en-US" sz="1200" dirty="0">
              <a:solidFill>
                <a:srgbClr val="FF0000"/>
              </a:solidFill>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HASTA AQUÍ HOY 10/03/2026.</a:t>
            </a:r>
          </a:p>
          <a:p>
            <a:pPr algn="just"/>
            <a:endParaRPr lang="en-US" sz="1200" dirty="0">
              <a:solidFill>
                <a:srgbClr val="FF0000"/>
              </a:solidFill>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Hoy 24/03 -&gt; lo </a:t>
            </a:r>
            <a:r>
              <a:rPr lang="en-US" sz="1200" dirty="0" err="1">
                <a:solidFill>
                  <a:srgbClr val="FF0000"/>
                </a:solidFill>
                <a:latin typeface="Arial" panose="020B0604020202020204" pitchFamily="34" charset="0"/>
                <a:cs typeface="Arial" panose="020B0604020202020204" pitchFamily="34" charset="0"/>
              </a:rPr>
              <a:t>hemos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planteado</a:t>
            </a:r>
            <a:r>
              <a:rPr lang="en-US" sz="1200" dirty="0">
                <a:solidFill>
                  <a:srgbClr val="FF0000"/>
                </a:solidFill>
                <a:latin typeface="Arial" panose="020B0604020202020204" pitchFamily="34" charset="0"/>
                <a:cs typeface="Arial" panose="020B0604020202020204" pitchFamily="34" charset="0"/>
              </a:rPr>
              <a:t> con </a:t>
            </a:r>
            <a:r>
              <a:rPr lang="en-US" sz="1200" dirty="0" err="1">
                <a:solidFill>
                  <a:srgbClr val="FF0000"/>
                </a:solidFill>
                <a:latin typeface="Arial" panose="020B0604020202020204" pitchFamily="34" charset="0"/>
                <a:cs typeface="Arial" panose="020B0604020202020204" pitchFamily="34" charset="0"/>
              </a:rPr>
              <a:t>el</a:t>
            </a:r>
            <a:r>
              <a:rPr lang="en-US" sz="1200" dirty="0">
                <a:solidFill>
                  <a:srgbClr val="FF0000"/>
                </a:solidFill>
                <a:latin typeface="Arial" panose="020B0604020202020204" pitchFamily="34" charset="0"/>
                <a:cs typeface="Arial" panose="020B0604020202020204" pitchFamily="34" charset="0"/>
              </a:rPr>
              <a:t> sweep, hay </a:t>
            </a:r>
            <a:r>
              <a:rPr lang="en-US" sz="1200" dirty="0" err="1">
                <a:solidFill>
                  <a:srgbClr val="FF0000"/>
                </a:solidFill>
                <a:latin typeface="Arial" panose="020B0604020202020204" pitchFamily="34" charset="0"/>
                <a:cs typeface="Arial" panose="020B0604020202020204" pitchFamily="34" charset="0"/>
              </a:rPr>
              <a:t>errores</a:t>
            </a:r>
            <a:r>
              <a:rPr lang="en-US" sz="1200" dirty="0">
                <a:solidFill>
                  <a:srgbClr val="FF0000"/>
                </a:solidFill>
                <a:latin typeface="Arial" panose="020B0604020202020204" pitchFamily="34" charset="0"/>
                <a:cs typeface="Arial" panose="020B0604020202020204" pitchFamily="34" charset="0"/>
              </a:rPr>
              <a:t> y hay </a:t>
            </a:r>
            <a:r>
              <a:rPr lang="en-US" sz="1200" dirty="0" err="1">
                <a:solidFill>
                  <a:srgbClr val="FF0000"/>
                </a:solidFill>
                <a:latin typeface="Arial" panose="020B0604020202020204" pitchFamily="34" charset="0"/>
                <a:cs typeface="Arial" panose="020B0604020202020204" pitchFamily="34" charset="0"/>
              </a:rPr>
              <a:t>que</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revisarlos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creemos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que</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unidades</a:t>
            </a:r>
            <a:r>
              <a:rPr lang="en-US" sz="1200" dirty="0">
                <a:solidFill>
                  <a:srgbClr val="FF0000"/>
                </a:solidFill>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COMENTAR LOS RESULTADOS (NO DARLE MUCHAS VUETLAS)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24515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pic>
        <p:nvPicPr>
          <p:cNvPr id="9" name="Imagen 8">
            <a:extLst>
              <a:ext uri="{FF2B5EF4-FFF2-40B4-BE49-F238E27FC236}">
                <a16:creationId xmlns:a16="http://schemas.microsoft.com/office/drawing/2014/main" id="{60918316-77DF-688B-D7C5-6E5DF89C2CE5}"/>
              </a:ext>
            </a:extLst>
          </p:cNvPr>
          <p:cNvPicPr>
            <a:picLocks noChangeAspect="1"/>
          </p:cNvPicPr>
          <p:nvPr/>
        </p:nvPicPr>
        <p:blipFill>
          <a:blip r:embed="rId5"/>
          <a:stretch>
            <a:fillRect/>
          </a:stretch>
        </p:blipFill>
        <p:spPr>
          <a:xfrm>
            <a:off x="827801" y="1927491"/>
            <a:ext cx="5381625" cy="2219325"/>
          </a:xfrm>
          <a:prstGeom prst="rect">
            <a:avLst/>
          </a:prstGeom>
        </p:spPr>
      </p:pic>
      <p:sp>
        <p:nvSpPr>
          <p:cNvPr id="12" name="CuadroTexto 11">
            <a:extLst>
              <a:ext uri="{FF2B5EF4-FFF2-40B4-BE49-F238E27FC236}">
                <a16:creationId xmlns:a16="http://schemas.microsoft.com/office/drawing/2014/main" id="{0E458332-7984-E6B4-69D5-975E8F4A2EAA}"/>
              </a:ext>
            </a:extLst>
          </p:cNvPr>
          <p:cNvSpPr txBox="1"/>
          <p:nvPr/>
        </p:nvSpPr>
        <p:spPr>
          <a:xfrm>
            <a:off x="8876382" y="1927491"/>
            <a:ext cx="1837338" cy="1892826"/>
          </a:xfrm>
          <a:prstGeom prst="rect">
            <a:avLst/>
          </a:prstGeom>
          <a:noFill/>
        </p:spPr>
        <p:txBody>
          <a:bodyPr wrap="square">
            <a:spAutoFit/>
          </a:bodyPr>
          <a:lstStyle/>
          <a:p>
            <a:pPr algn="ctr">
              <a:buNone/>
            </a:pPr>
            <a:r>
              <a:rPr lang="en-US" sz="900" dirty="0">
                <a:effectLst/>
              </a:rPr>
              <a:t>------- </a:t>
            </a:r>
            <a:r>
              <a:rPr lang="en-US" sz="900" dirty="0" err="1">
                <a:effectLst/>
              </a:rPr>
              <a:t>Pameters</a:t>
            </a:r>
            <a:r>
              <a:rPr lang="en-US" sz="900" dirty="0">
                <a:effectLst/>
              </a:rPr>
              <a:t> -------</a:t>
            </a:r>
          </a:p>
          <a:p>
            <a:pPr algn="ctr">
              <a:buNone/>
            </a:pPr>
            <a:r>
              <a:rPr lang="en-US" sz="900" dirty="0">
                <a:effectLst/>
              </a:rPr>
              <a:t>MMI length 34.5180</a:t>
            </a:r>
          </a:p>
          <a:p>
            <a:pPr algn="ctr">
              <a:buNone/>
            </a:pPr>
            <a:r>
              <a:rPr lang="en-US" sz="900" dirty="0">
                <a:effectLst/>
              </a:rPr>
              <a:t>MMI length increment 0.0000</a:t>
            </a:r>
          </a:p>
          <a:p>
            <a:pPr algn="ctr">
              <a:buNone/>
            </a:pPr>
            <a:r>
              <a:rPr lang="en-US" sz="900" dirty="0">
                <a:effectLst/>
              </a:rPr>
              <a:t>IO </a:t>
            </a:r>
            <a:r>
              <a:rPr lang="en-US" sz="900" dirty="0" err="1">
                <a:effectLst/>
              </a:rPr>
              <a:t>wg</a:t>
            </a:r>
            <a:r>
              <a:rPr lang="en-US" sz="900" dirty="0">
                <a:effectLst/>
              </a:rPr>
              <a:t> width 1.0000</a:t>
            </a:r>
          </a:p>
          <a:p>
            <a:pPr algn="ctr">
              <a:buNone/>
            </a:pPr>
            <a:r>
              <a:rPr lang="en-US" sz="900" dirty="0">
                <a:effectLst/>
              </a:rPr>
              <a:t>IO </a:t>
            </a:r>
            <a:r>
              <a:rPr lang="en-US" sz="900" dirty="0" err="1">
                <a:effectLst/>
              </a:rPr>
              <a:t>wg</a:t>
            </a:r>
            <a:r>
              <a:rPr lang="en-US" sz="900" dirty="0">
                <a:effectLst/>
              </a:rPr>
              <a:t> width increment 0.0000</a:t>
            </a:r>
          </a:p>
          <a:p>
            <a:pPr algn="ctr">
              <a:buNone/>
            </a:pPr>
            <a:r>
              <a:rPr lang="en-US" sz="900" dirty="0">
                <a:effectLst/>
              </a:rPr>
              <a:t>------------------------</a:t>
            </a:r>
          </a:p>
          <a:p>
            <a:pPr algn="ctr">
              <a:buNone/>
            </a:pPr>
            <a:r>
              <a:rPr lang="en-US" sz="900" dirty="0">
                <a:effectLst/>
              </a:rPr>
              <a:t>Total power IN coupled 0.9604</a:t>
            </a:r>
          </a:p>
          <a:p>
            <a:pPr algn="ctr">
              <a:buNone/>
            </a:pPr>
            <a:r>
              <a:rPr lang="en-US" sz="900" dirty="0">
                <a:effectLst/>
              </a:rPr>
              <a:t>Total OUT power: 0.9075</a:t>
            </a:r>
          </a:p>
          <a:p>
            <a:pPr algn="ctr">
              <a:buNone/>
            </a:pPr>
            <a:r>
              <a:rPr lang="en-US" sz="900" dirty="0">
                <a:effectLst/>
              </a:rPr>
              <a:t>Excess loss [dB] =  0.4217</a:t>
            </a:r>
          </a:p>
          <a:p>
            <a:pPr algn="ctr">
              <a:buNone/>
            </a:pPr>
            <a:r>
              <a:rPr lang="en-US" sz="900" dirty="0">
                <a:effectLst/>
              </a:rPr>
              <a:t>------------------------</a:t>
            </a:r>
          </a:p>
          <a:p>
            <a:pPr algn="ctr">
              <a:buNone/>
            </a:pPr>
            <a:r>
              <a:rPr lang="en-US" sz="900" dirty="0">
                <a:effectLst/>
              </a:rPr>
              <a:t>Power over OUTs:  ['0.4675', '0.4399']</a:t>
            </a:r>
          </a:p>
          <a:p>
            <a:pPr algn="ctr">
              <a:buNone/>
            </a:pPr>
            <a:r>
              <a:rPr lang="en-US" sz="900" dirty="0">
                <a:effectLst/>
              </a:rPr>
              <a:t>Ratio over OUTs ['0.5152', '0.4848']</a:t>
            </a:r>
            <a:endParaRPr lang="en-US" sz="900" dirty="0"/>
          </a:p>
        </p:txBody>
      </p:sp>
    </p:spTree>
    <p:extLst>
      <p:ext uri="{BB962C8B-B14F-4D97-AF65-F5344CB8AC3E}">
        <p14:creationId xmlns:p14="http://schemas.microsoft.com/office/powerpoint/2010/main" val="2815679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SE HAN OPTIMIZADO LAS POSICIONES DE LAS ENTRADAS Y SALIDAS (CREEMOS QUE AMBAS), PARA LAS PÉRDIDAS (0.5 Más o </a:t>
            </a:r>
            <a:r>
              <a:rPr lang="en-US" sz="1200" dirty="0" err="1">
                <a:solidFill>
                  <a:srgbClr val="FF0000"/>
                </a:solidFill>
                <a:latin typeface="Arial" panose="020B0604020202020204" pitchFamily="34" charset="0"/>
                <a:cs typeface="Arial" panose="020B0604020202020204" pitchFamily="34" charset="0"/>
              </a:rPr>
              <a:t>menos</a:t>
            </a:r>
            <a:r>
              <a:rPr lang="en-US" sz="1200" dirty="0">
                <a:solidFill>
                  <a:srgbClr val="FF0000"/>
                </a:solidFill>
                <a:latin typeface="Arial" panose="020B0604020202020204" pitchFamily="34" charset="0"/>
                <a:cs typeface="Arial" panose="020B0604020202020204" pitchFamily="34" charset="0"/>
              </a:rPr>
              <a:t> de ratio)</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err="1">
                <a:solidFill>
                  <a:srgbClr val="FF0000"/>
                </a:solidFill>
                <a:latin typeface="Arial" panose="020B0604020202020204" pitchFamily="34" charset="0"/>
                <a:cs typeface="Arial" panose="020B0604020202020204" pitchFamily="34" charset="0"/>
              </a:rPr>
              <a:t>Optimizar</a:t>
            </a:r>
            <a:r>
              <a:rPr lang="en-US" sz="1200" dirty="0">
                <a:solidFill>
                  <a:srgbClr val="FF0000"/>
                </a:solidFill>
                <a:latin typeface="Arial" panose="020B0604020202020204" pitchFamily="34" charset="0"/>
                <a:cs typeface="Arial" panose="020B0604020202020204" pitchFamily="34" charset="0"/>
              </a:rPr>
              <a:t> para </a:t>
            </a:r>
            <a:r>
              <a:rPr lang="en-US" sz="1200" dirty="0" err="1">
                <a:solidFill>
                  <a:srgbClr val="FF0000"/>
                </a:solidFill>
                <a:latin typeface="Arial" panose="020B0604020202020204" pitchFamily="34" charset="0"/>
                <a:cs typeface="Arial" panose="020B0604020202020204" pitchFamily="34" charset="0"/>
              </a:rPr>
              <a:t>conseguir</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el</a:t>
            </a:r>
            <a:r>
              <a:rPr lang="en-US" sz="1200" dirty="0">
                <a:solidFill>
                  <a:srgbClr val="FF0000"/>
                </a:solidFill>
                <a:latin typeface="Arial" panose="020B0604020202020204" pitchFamily="34" charset="0"/>
                <a:cs typeface="Arial" panose="020B0604020202020204" pitchFamily="34" charset="0"/>
              </a:rPr>
              <a:t> 0.5 (lo </a:t>
            </a:r>
            <a:r>
              <a:rPr lang="en-US" sz="1200" dirty="0" err="1">
                <a:solidFill>
                  <a:srgbClr val="FF0000"/>
                </a:solidFill>
                <a:latin typeface="Arial" panose="020B0604020202020204" pitchFamily="34" charset="0"/>
                <a:cs typeface="Arial" panose="020B0604020202020204" pitchFamily="34" charset="0"/>
              </a:rPr>
              <a:t>posible</a:t>
            </a:r>
            <a:r>
              <a:rPr lang="en-US" sz="1200" dirty="0">
                <a:solidFill>
                  <a:srgbClr val="FF0000"/>
                </a:solidFill>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 µm </a:t>
            </a:r>
            <a:r>
              <a:rPr lang="en-US" b="0" dirty="0">
                <a:solidFill>
                  <a:srgbClr val="FF0000"/>
                </a:solidFill>
                <a:highlight>
                  <a:srgbClr val="FF0000"/>
                </a:highlight>
              </a:rPr>
              <a:t>(</a:t>
            </a:r>
            <a:r>
              <a:rPr lang="en-US" b="0" dirty="0" err="1">
                <a:solidFill>
                  <a:srgbClr val="FF0000"/>
                </a:solidFill>
                <a:highlight>
                  <a:srgbClr val="FFFF00"/>
                </a:highlight>
              </a:rPr>
              <a:t>unos</a:t>
            </a:r>
            <a:r>
              <a:rPr lang="en-US" b="0" dirty="0">
                <a:solidFill>
                  <a:srgbClr val="FF0000"/>
                </a:solidFill>
                <a:highlight>
                  <a:srgbClr val="FFFF00"/>
                </a:highlight>
              </a:rPr>
              <a:t> 10-12)</a:t>
            </a:r>
            <a:endParaRPr lang="en-US" sz="2500" b="0" dirty="0">
              <a:solidFill>
                <a:srgbClr val="FF0000"/>
              </a:solidFill>
              <a:highlight>
                <a:srgbClr val="FFFF00"/>
              </a:highlight>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process for a 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highlight>
                <a:srgbClr val="FFFF00"/>
              </a:highlight>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Hacer </a:t>
            </a:r>
            <a:r>
              <a:rPr lang="en-US" sz="1200" dirty="0" err="1">
                <a:solidFill>
                  <a:srgbClr val="FF0000"/>
                </a:solidFill>
                <a:latin typeface="Arial" panose="020B0604020202020204" pitchFamily="34" charset="0"/>
                <a:cs typeface="Arial" panose="020B0604020202020204" pitchFamily="34" charset="0"/>
              </a:rPr>
              <a:t>los</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mismos</a:t>
            </a:r>
            <a:r>
              <a:rPr lang="en-US" sz="1200" dirty="0">
                <a:solidFill>
                  <a:srgbClr val="FF0000"/>
                </a:solidFill>
                <a:latin typeface="Arial" panose="020B0604020202020204" pitchFamily="34" charset="0"/>
                <a:cs typeface="Arial" panose="020B0604020202020204" pitchFamily="34" charset="0"/>
              </a:rPr>
              <a:t> pasos </a:t>
            </a:r>
            <a:r>
              <a:rPr lang="en-US" sz="1200" dirty="0" err="1">
                <a:solidFill>
                  <a:srgbClr val="FF0000"/>
                </a:solidFill>
                <a:latin typeface="Arial" panose="020B0604020202020204" pitchFamily="34" charset="0"/>
                <a:cs typeface="Arial" panose="020B0604020202020204" pitchFamily="34" charset="0"/>
              </a:rPr>
              <a:t>que</a:t>
            </a:r>
            <a:r>
              <a:rPr lang="en-US" sz="1200" dirty="0">
                <a:solidFill>
                  <a:srgbClr val="FF0000"/>
                </a:solidFill>
                <a:latin typeface="Arial" panose="020B0604020202020204" pitchFamily="34" charset="0"/>
                <a:cs typeface="Arial" panose="020B0604020202020204" pitchFamily="34" charset="0"/>
              </a:rPr>
              <a:t> </a:t>
            </a:r>
            <a:r>
              <a:rPr lang="en-US" sz="1200" dirty="0" err="1">
                <a:solidFill>
                  <a:srgbClr val="FF0000"/>
                </a:solidFill>
                <a:latin typeface="Arial" panose="020B0604020202020204" pitchFamily="34" charset="0"/>
                <a:cs typeface="Arial" panose="020B0604020202020204" pitchFamily="34" charset="0"/>
              </a:rPr>
              <a:t>el</a:t>
            </a:r>
            <a:r>
              <a:rPr lang="en-US" sz="1200" dirty="0">
                <a:solidFill>
                  <a:srgbClr val="FF0000"/>
                </a:solidFill>
                <a:latin typeface="Arial" panose="020B0604020202020204" pitchFamily="34" charset="0"/>
                <a:cs typeface="Arial" panose="020B0604020202020204" pitchFamily="34" charset="0"/>
              </a:rPr>
              <a:t> anterior, poco a poco.</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1048</TotalTime>
  <Words>2012</Words>
  <Application>Microsoft Office PowerPoint</Application>
  <PresentationFormat>Panorámica</PresentationFormat>
  <Paragraphs>287</Paragraphs>
  <Slides>18</Slides>
  <Notes>13</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18</vt:i4>
      </vt:variant>
    </vt:vector>
  </HeadingPairs>
  <TitlesOfParts>
    <vt:vector size="26"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 µm (unos 10-12)</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Javier Llacer Noha</cp:lastModifiedBy>
  <cp:revision>16</cp:revision>
  <dcterms:created xsi:type="dcterms:W3CDTF">2025-01-27T02:46:57Z</dcterms:created>
  <dcterms:modified xsi:type="dcterms:W3CDTF">2026-03-24T13:16:56Z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