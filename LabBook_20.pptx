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4"/>
  </p:sldMasterIdLst>
  <p:notesMasterIdLst>
    <p:notesMasterId r:id="rId23"/>
  </p:notesMasterIdLst>
  <p:handoutMasterIdLst>
    <p:handoutMasterId r:id="rId24"/>
  </p:handoutMasterIdLst>
  <p:sldIdLst>
    <p:sldId id="256" r:id="rId5"/>
    <p:sldId id="289" r:id="rId6"/>
    <p:sldId id="295" r:id="rId7"/>
    <p:sldId id="304" r:id="rId8"/>
    <p:sldId id="302" r:id="rId9"/>
    <p:sldId id="303" r:id="rId10"/>
    <p:sldId id="291" r:id="rId11"/>
    <p:sldId id="296" r:id="rId12"/>
    <p:sldId id="305" r:id="rId13"/>
    <p:sldId id="294" r:id="rId14"/>
    <p:sldId id="299" r:id="rId15"/>
    <p:sldId id="300" r:id="rId16"/>
    <p:sldId id="301" r:id="rId17"/>
    <p:sldId id="290" r:id="rId18"/>
    <p:sldId id="297" r:id="rId19"/>
    <p:sldId id="292" r:id="rId20"/>
    <p:sldId id="298" r:id="rId21"/>
    <p:sldId id="288" r:id="rId22"/>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9748C52-5E7C-4104-8294-68F45FF402A3}" v="113" dt="2026-05-03T18:25:33.982"/>
    <p1510:client id="{BBDEB699-4F4B-4309-A19B-2194F5D502FB}" v="862" dt="2026-05-03T17:33:47.291"/>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111" d="100"/>
          <a:sy n="111" d="100"/>
        </p:scale>
        <p:origin x="1134" y="9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guel Angel Descalzo Cuevas" userId="0e76cc0c-ef7c-47b5-ae01-e0ac546f95ce" providerId="ADAL" clId="{A188F71C-5A23-4A88-80A3-909CB64FB59C}"/>
    <pc:docChg chg="undo redo custSel modSld">
      <pc:chgData name="Miguel Angel Descalzo Cuevas" userId="0e76cc0c-ef7c-47b5-ae01-e0ac546f95ce" providerId="ADAL" clId="{A188F71C-5A23-4A88-80A3-909CB64FB59C}" dt="2026-05-03T18:35:05.446" v="430" actId="20577"/>
      <pc:docMkLst>
        <pc:docMk/>
      </pc:docMkLst>
      <pc:sldChg chg="modSp mod">
        <pc:chgData name="Miguel Angel Descalzo Cuevas" userId="0e76cc0c-ef7c-47b5-ae01-e0ac546f95ce" providerId="ADAL" clId="{A188F71C-5A23-4A88-80A3-909CB64FB59C}" dt="2026-05-03T17:55:10.063" v="115" actId="20577"/>
        <pc:sldMkLst>
          <pc:docMk/>
          <pc:sldMk cId="179796361" sldId="290"/>
        </pc:sldMkLst>
        <pc:spChg chg="mod">
          <ac:chgData name="Miguel Angel Descalzo Cuevas" userId="0e76cc0c-ef7c-47b5-ae01-e0ac546f95ce" providerId="ADAL" clId="{A188F71C-5A23-4A88-80A3-909CB64FB59C}" dt="2026-05-03T17:55:10.063" v="115" actId="20577"/>
          <ac:spMkLst>
            <pc:docMk/>
            <pc:sldMk cId="179796361" sldId="290"/>
            <ac:spMk id="2" creationId="{D0F8CF3B-B920-DBFC-F825-0C87B51EADA7}"/>
          </ac:spMkLst>
        </pc:spChg>
        <pc:picChg chg="mod">
          <ac:chgData name="Miguel Angel Descalzo Cuevas" userId="0e76cc0c-ef7c-47b5-ae01-e0ac546f95ce" providerId="ADAL" clId="{A188F71C-5A23-4A88-80A3-909CB64FB59C}" dt="2026-05-03T17:05:11.371" v="65" actId="14826"/>
          <ac:picMkLst>
            <pc:docMk/>
            <pc:sldMk cId="179796361" sldId="290"/>
            <ac:picMk id="12" creationId="{C063F03D-90F4-E331-52CB-4B4401418393}"/>
          </ac:picMkLst>
        </pc:picChg>
        <pc:picChg chg="mod">
          <ac:chgData name="Miguel Angel Descalzo Cuevas" userId="0e76cc0c-ef7c-47b5-ae01-e0ac546f95ce" providerId="ADAL" clId="{A188F71C-5A23-4A88-80A3-909CB64FB59C}" dt="2026-05-03T17:05:07.593" v="64" actId="14826"/>
          <ac:picMkLst>
            <pc:docMk/>
            <pc:sldMk cId="179796361" sldId="290"/>
            <ac:picMk id="17" creationId="{C6C82157-84CA-440D-D8B2-CFB1C29D9E67}"/>
          </ac:picMkLst>
        </pc:picChg>
      </pc:sldChg>
      <pc:sldChg chg="addSp delSp modSp mod">
        <pc:chgData name="Miguel Angel Descalzo Cuevas" userId="0e76cc0c-ef7c-47b5-ae01-e0ac546f95ce" providerId="ADAL" clId="{A188F71C-5A23-4A88-80A3-909CB64FB59C}" dt="2026-05-03T18:16:55.531" v="251" actId="20577"/>
        <pc:sldMkLst>
          <pc:docMk/>
          <pc:sldMk cId="955145640" sldId="292"/>
        </pc:sldMkLst>
        <pc:spChg chg="mod">
          <ac:chgData name="Miguel Angel Descalzo Cuevas" userId="0e76cc0c-ef7c-47b5-ae01-e0ac546f95ce" providerId="ADAL" clId="{A188F71C-5A23-4A88-80A3-909CB64FB59C}" dt="2026-05-03T18:16:55.531" v="251" actId="20577"/>
          <ac:spMkLst>
            <pc:docMk/>
            <pc:sldMk cId="955145640" sldId="292"/>
            <ac:spMk id="2" creationId="{82A62DD6-5488-72A1-9926-0CAEE59089A9}"/>
          </ac:spMkLst>
        </pc:spChg>
        <pc:spChg chg="ord">
          <ac:chgData name="Miguel Angel Descalzo Cuevas" userId="0e76cc0c-ef7c-47b5-ae01-e0ac546f95ce" providerId="ADAL" clId="{A188F71C-5A23-4A88-80A3-909CB64FB59C}" dt="2026-05-03T17:13:43.743" v="88" actId="166"/>
          <ac:spMkLst>
            <pc:docMk/>
            <pc:sldMk cId="955145640" sldId="292"/>
            <ac:spMk id="6" creationId="{0C016548-01A2-6E58-B80D-148384B98EB3}"/>
          </ac:spMkLst>
        </pc:spChg>
        <pc:spChg chg="del">
          <ac:chgData name="Miguel Angel Descalzo Cuevas" userId="0e76cc0c-ef7c-47b5-ae01-e0ac546f95ce" providerId="ADAL" clId="{A188F71C-5A23-4A88-80A3-909CB64FB59C}" dt="2026-05-03T17:12:07.809" v="76" actId="478"/>
          <ac:spMkLst>
            <pc:docMk/>
            <pc:sldMk cId="955145640" sldId="292"/>
            <ac:spMk id="9" creationId="{075D03BE-0D6A-89E5-3C68-D7BD97B4676E}"/>
          </ac:spMkLst>
        </pc:spChg>
        <pc:spChg chg="del">
          <ac:chgData name="Miguel Angel Descalzo Cuevas" userId="0e76cc0c-ef7c-47b5-ae01-e0ac546f95ce" providerId="ADAL" clId="{A188F71C-5A23-4A88-80A3-909CB64FB59C}" dt="2026-05-03T17:13:24.822" v="82" actId="478"/>
          <ac:spMkLst>
            <pc:docMk/>
            <pc:sldMk cId="955145640" sldId="292"/>
            <ac:spMk id="10" creationId="{AC01EDEE-71CC-C570-700B-076F03FCF7E1}"/>
          </ac:spMkLst>
        </pc:spChg>
        <pc:spChg chg="mod">
          <ac:chgData name="Miguel Angel Descalzo Cuevas" userId="0e76cc0c-ef7c-47b5-ae01-e0ac546f95ce" providerId="ADAL" clId="{A188F71C-5A23-4A88-80A3-909CB64FB59C}" dt="2026-05-03T17:24:06.807" v="110" actId="115"/>
          <ac:spMkLst>
            <pc:docMk/>
            <pc:sldMk cId="955145640" sldId="292"/>
            <ac:spMk id="16" creationId="{6AA2E789-F7AE-F068-274C-E0F13A22DBCA}"/>
          </ac:spMkLst>
        </pc:spChg>
        <pc:picChg chg="add mod">
          <ac:chgData name="Miguel Angel Descalzo Cuevas" userId="0e76cc0c-ef7c-47b5-ae01-e0ac546f95ce" providerId="ADAL" clId="{A188F71C-5A23-4A88-80A3-909CB64FB59C}" dt="2026-05-03T18:11:18.100" v="151" actId="14826"/>
          <ac:picMkLst>
            <pc:docMk/>
            <pc:sldMk cId="955145640" sldId="292"/>
            <ac:picMk id="8" creationId="{1F039297-1A17-E9A2-7975-8F41EDE94A3A}"/>
          </ac:picMkLst>
        </pc:picChg>
        <pc:picChg chg="add mod">
          <ac:chgData name="Miguel Angel Descalzo Cuevas" userId="0e76cc0c-ef7c-47b5-ae01-e0ac546f95ce" providerId="ADAL" clId="{A188F71C-5A23-4A88-80A3-909CB64FB59C}" dt="2026-05-03T18:11:37.097" v="152" actId="14826"/>
          <ac:picMkLst>
            <pc:docMk/>
            <pc:sldMk cId="955145640" sldId="292"/>
            <ac:picMk id="12" creationId="{33933FCC-0772-B121-FD44-94BCB5AD8931}"/>
          </ac:picMkLst>
        </pc:picChg>
      </pc:sldChg>
      <pc:sldChg chg="modSp mod">
        <pc:chgData name="Miguel Angel Descalzo Cuevas" userId="0e76cc0c-ef7c-47b5-ae01-e0ac546f95ce" providerId="ADAL" clId="{A188F71C-5A23-4A88-80A3-909CB64FB59C}" dt="2026-05-03T15:19:02.792" v="37" actId="20577"/>
        <pc:sldMkLst>
          <pc:docMk/>
          <pc:sldMk cId="2815679427" sldId="294"/>
        </pc:sldMkLst>
        <pc:spChg chg="mod">
          <ac:chgData name="Miguel Angel Descalzo Cuevas" userId="0e76cc0c-ef7c-47b5-ae01-e0ac546f95ce" providerId="ADAL" clId="{A188F71C-5A23-4A88-80A3-909CB64FB59C}" dt="2026-05-03T15:19:02.792" v="37" actId="20577"/>
          <ac:spMkLst>
            <pc:docMk/>
            <pc:sldMk cId="2815679427" sldId="294"/>
            <ac:spMk id="2" creationId="{B5029729-ADF3-3B30-4FF9-83BE1DB82BD7}"/>
          </ac:spMkLst>
        </pc:spChg>
      </pc:sldChg>
      <pc:sldChg chg="addSp delSp modSp mod">
        <pc:chgData name="Miguel Angel Descalzo Cuevas" userId="0e76cc0c-ef7c-47b5-ae01-e0ac546f95ce" providerId="ADAL" clId="{A188F71C-5A23-4A88-80A3-909CB64FB59C}" dt="2026-05-03T17:59:03.933" v="117" actId="20577"/>
        <pc:sldMkLst>
          <pc:docMk/>
          <pc:sldMk cId="813558068" sldId="297"/>
        </pc:sldMkLst>
        <pc:spChg chg="mod">
          <ac:chgData name="Miguel Angel Descalzo Cuevas" userId="0e76cc0c-ef7c-47b5-ae01-e0ac546f95ce" providerId="ADAL" clId="{A188F71C-5A23-4A88-80A3-909CB64FB59C}" dt="2026-05-03T17:59:03.933" v="117" actId="20577"/>
          <ac:spMkLst>
            <pc:docMk/>
            <pc:sldMk cId="813558068" sldId="297"/>
            <ac:spMk id="2" creationId="{181326FD-308E-2C47-D5D2-57B3357241AA}"/>
          </ac:spMkLst>
        </pc:spChg>
        <pc:spChg chg="mod ord">
          <ac:chgData name="Miguel Angel Descalzo Cuevas" userId="0e76cc0c-ef7c-47b5-ae01-e0ac546f95ce" providerId="ADAL" clId="{A188F71C-5A23-4A88-80A3-909CB64FB59C}" dt="2026-05-03T17:01:21.254" v="56" actId="1076"/>
          <ac:spMkLst>
            <pc:docMk/>
            <pc:sldMk cId="813558068" sldId="297"/>
            <ac:spMk id="7" creationId="{5F16E403-DF61-C9A0-D57F-2E61BEFA8887}"/>
          </ac:spMkLst>
        </pc:spChg>
        <pc:spChg chg="del">
          <ac:chgData name="Miguel Angel Descalzo Cuevas" userId="0e76cc0c-ef7c-47b5-ae01-e0ac546f95ce" providerId="ADAL" clId="{A188F71C-5A23-4A88-80A3-909CB64FB59C}" dt="2026-05-03T16:55:32.161" v="41" actId="478"/>
          <ac:spMkLst>
            <pc:docMk/>
            <pc:sldMk cId="813558068" sldId="297"/>
            <ac:spMk id="8" creationId="{B08C2240-8810-4E0A-7DCF-E62A8271EA2E}"/>
          </ac:spMkLst>
        </pc:spChg>
        <pc:spChg chg="del">
          <ac:chgData name="Miguel Angel Descalzo Cuevas" userId="0e76cc0c-ef7c-47b5-ae01-e0ac546f95ce" providerId="ADAL" clId="{A188F71C-5A23-4A88-80A3-909CB64FB59C}" dt="2026-05-03T17:00:58.572" v="50" actId="478"/>
          <ac:spMkLst>
            <pc:docMk/>
            <pc:sldMk cId="813558068" sldId="297"/>
            <ac:spMk id="9" creationId="{BBDDC809-0F06-CBE2-4D1A-3A2FA36C33A8}"/>
          </ac:spMkLst>
        </pc:spChg>
        <pc:spChg chg="mod">
          <ac:chgData name="Miguel Angel Descalzo Cuevas" userId="0e76cc0c-ef7c-47b5-ae01-e0ac546f95ce" providerId="ADAL" clId="{A188F71C-5A23-4A88-80A3-909CB64FB59C}" dt="2026-05-03T17:05:47.572" v="71" actId="115"/>
          <ac:spMkLst>
            <pc:docMk/>
            <pc:sldMk cId="813558068" sldId="297"/>
            <ac:spMk id="16" creationId="{5AC39480-E3E5-69B1-401F-A50C45531EF2}"/>
          </ac:spMkLst>
        </pc:spChg>
        <pc:picChg chg="add mod">
          <ac:chgData name="Miguel Angel Descalzo Cuevas" userId="0e76cc0c-ef7c-47b5-ae01-e0ac546f95ce" providerId="ADAL" clId="{A188F71C-5A23-4A88-80A3-909CB64FB59C}" dt="2026-05-03T17:24:56.329" v="112" actId="14826"/>
          <ac:picMkLst>
            <pc:docMk/>
            <pc:sldMk cId="813558068" sldId="297"/>
            <ac:picMk id="10" creationId="{C1754BE1-864E-B39A-883E-787FEB77EAD4}"/>
          </ac:picMkLst>
        </pc:picChg>
        <pc:picChg chg="add mod">
          <ac:chgData name="Miguel Angel Descalzo Cuevas" userId="0e76cc0c-ef7c-47b5-ae01-e0ac546f95ce" providerId="ADAL" clId="{A188F71C-5A23-4A88-80A3-909CB64FB59C}" dt="2026-05-03T17:24:39.688" v="111" actId="14826"/>
          <ac:picMkLst>
            <pc:docMk/>
            <pc:sldMk cId="813558068" sldId="297"/>
            <ac:picMk id="12" creationId="{C2B427C0-87BB-D921-1EB4-647DDC3F5F5C}"/>
          </ac:picMkLst>
        </pc:picChg>
      </pc:sldChg>
      <pc:sldChg chg="addSp delSp modSp mod">
        <pc:chgData name="Miguel Angel Descalzo Cuevas" userId="0e76cc0c-ef7c-47b5-ae01-e0ac546f95ce" providerId="ADAL" clId="{A188F71C-5A23-4A88-80A3-909CB64FB59C}" dt="2026-05-03T18:35:05.446" v="430" actId="20577"/>
        <pc:sldMkLst>
          <pc:docMk/>
          <pc:sldMk cId="535939439" sldId="298"/>
        </pc:sldMkLst>
        <pc:spChg chg="mod">
          <ac:chgData name="Miguel Angel Descalzo Cuevas" userId="0e76cc0c-ef7c-47b5-ae01-e0ac546f95ce" providerId="ADAL" clId="{A188F71C-5A23-4A88-80A3-909CB64FB59C}" dt="2026-05-03T18:35:05.446" v="430" actId="20577"/>
          <ac:spMkLst>
            <pc:docMk/>
            <pc:sldMk cId="535939439" sldId="298"/>
            <ac:spMk id="2" creationId="{8D88CB07-C5F5-9BB7-9F41-E171F0F0E2B9}"/>
          </ac:spMkLst>
        </pc:spChg>
        <pc:spChg chg="ord">
          <ac:chgData name="Miguel Angel Descalzo Cuevas" userId="0e76cc0c-ef7c-47b5-ae01-e0ac546f95ce" providerId="ADAL" clId="{A188F71C-5A23-4A88-80A3-909CB64FB59C}" dt="2026-05-03T17:22:57.162" v="106" actId="166"/>
          <ac:spMkLst>
            <pc:docMk/>
            <pc:sldMk cId="535939439" sldId="298"/>
            <ac:spMk id="6" creationId="{154B5534-E510-6404-1E30-B73FDF73AD42}"/>
          </ac:spMkLst>
        </pc:spChg>
        <pc:spChg chg="add del">
          <ac:chgData name="Miguel Angel Descalzo Cuevas" userId="0e76cc0c-ef7c-47b5-ae01-e0ac546f95ce" providerId="ADAL" clId="{A188F71C-5A23-4A88-80A3-909CB64FB59C}" dt="2026-05-03T17:21:07.019" v="91" actId="478"/>
          <ac:spMkLst>
            <pc:docMk/>
            <pc:sldMk cId="535939439" sldId="298"/>
            <ac:spMk id="9" creationId="{2BDFECD2-156D-6697-CFBF-8CD783F9B986}"/>
          </ac:spMkLst>
        </pc:spChg>
        <pc:spChg chg="del">
          <ac:chgData name="Miguel Angel Descalzo Cuevas" userId="0e76cc0c-ef7c-47b5-ae01-e0ac546f95ce" providerId="ADAL" clId="{A188F71C-5A23-4A88-80A3-909CB64FB59C}" dt="2026-05-03T17:22:41.329" v="100" actId="478"/>
          <ac:spMkLst>
            <pc:docMk/>
            <pc:sldMk cId="535939439" sldId="298"/>
            <ac:spMk id="10" creationId="{3BFC64CA-DE35-A528-CF09-36A26DB3DEE4}"/>
          </ac:spMkLst>
        </pc:spChg>
        <pc:picChg chg="add mod">
          <ac:chgData name="Miguel Angel Descalzo Cuevas" userId="0e76cc0c-ef7c-47b5-ae01-e0ac546f95ce" providerId="ADAL" clId="{A188F71C-5A23-4A88-80A3-909CB64FB59C}" dt="2026-05-03T17:21:24.978" v="99" actId="1076"/>
          <ac:picMkLst>
            <pc:docMk/>
            <pc:sldMk cId="535939439" sldId="298"/>
            <ac:picMk id="8" creationId="{79078BC8-32AE-8A46-EEC5-50CC5F3680CE}"/>
          </ac:picMkLst>
        </pc:picChg>
        <pc:picChg chg="add mod">
          <ac:chgData name="Miguel Angel Descalzo Cuevas" userId="0e76cc0c-ef7c-47b5-ae01-e0ac546f95ce" providerId="ADAL" clId="{A188F71C-5A23-4A88-80A3-909CB64FB59C}" dt="2026-05-03T17:22:53.766" v="105" actId="1076"/>
          <ac:picMkLst>
            <pc:docMk/>
            <pc:sldMk cId="535939439" sldId="298"/>
            <ac:picMk id="12" creationId="{E1007380-4F2D-F310-E7CD-2035258ED061}"/>
          </ac:picMkLst>
        </pc:picChg>
      </pc:sldChg>
      <pc:sldChg chg="modSp mod">
        <pc:chgData name="Miguel Angel Descalzo Cuevas" userId="0e76cc0c-ef7c-47b5-ae01-e0ac546f95ce" providerId="ADAL" clId="{A188F71C-5A23-4A88-80A3-909CB64FB59C}" dt="2026-05-03T14:40:28.669" v="30" actId="20577"/>
        <pc:sldMkLst>
          <pc:docMk/>
          <pc:sldMk cId="1558326841" sldId="303"/>
        </pc:sldMkLst>
        <pc:spChg chg="mod">
          <ac:chgData name="Miguel Angel Descalzo Cuevas" userId="0e76cc0c-ef7c-47b5-ae01-e0ac546f95ce" providerId="ADAL" clId="{A188F71C-5A23-4A88-80A3-909CB64FB59C}" dt="2026-05-03T14:40:28.669" v="30" actId="20577"/>
          <ac:spMkLst>
            <pc:docMk/>
            <pc:sldMk cId="1558326841" sldId="303"/>
            <ac:spMk id="2" creationId="{82A62DD6-5488-72A1-9926-0CAEE59089A9}"/>
          </ac:spMkLst>
        </pc:spChg>
      </pc:sldChg>
      <pc:sldChg chg="modSp mod">
        <pc:chgData name="Miguel Angel Descalzo Cuevas" userId="0e76cc0c-ef7c-47b5-ae01-e0ac546f95ce" providerId="ADAL" clId="{A188F71C-5A23-4A88-80A3-909CB64FB59C}" dt="2026-05-03T14:32:45.443" v="25" actId="20577"/>
        <pc:sldMkLst>
          <pc:docMk/>
          <pc:sldMk cId="730501311" sldId="304"/>
        </pc:sldMkLst>
        <pc:spChg chg="mod">
          <ac:chgData name="Miguel Angel Descalzo Cuevas" userId="0e76cc0c-ef7c-47b5-ae01-e0ac546f95ce" providerId="ADAL" clId="{A188F71C-5A23-4A88-80A3-909CB64FB59C}" dt="2026-05-03T14:32:45.443" v="25" actId="20577"/>
          <ac:spMkLst>
            <pc:docMk/>
            <pc:sldMk cId="730501311" sldId="304"/>
            <ac:spMk id="7" creationId="{B8A8665F-DDCB-96E7-6FDB-7A2CE1AA66BD}"/>
          </ac:spMkLst>
        </pc:spChg>
        <pc:spChg chg="mod">
          <ac:chgData name="Miguel Angel Descalzo Cuevas" userId="0e76cc0c-ef7c-47b5-ae01-e0ac546f95ce" providerId="ADAL" clId="{A188F71C-5A23-4A88-80A3-909CB64FB59C}" dt="2026-05-03T14:21:57.453" v="6" actId="20577"/>
          <ac:spMkLst>
            <pc:docMk/>
            <pc:sldMk cId="730501311" sldId="304"/>
            <ac:spMk id="12" creationId="{2A11BD03-CABD-A52B-AE05-468D3B5E24E0}"/>
          </ac:spMkLst>
        </pc:spChg>
        <pc:spChg chg="mod">
          <ac:chgData name="Miguel Angel Descalzo Cuevas" userId="0e76cc0c-ef7c-47b5-ae01-e0ac546f95ce" providerId="ADAL" clId="{A188F71C-5A23-4A88-80A3-909CB64FB59C}" dt="2026-05-03T14:21:51.863" v="5" actId="20577"/>
          <ac:spMkLst>
            <pc:docMk/>
            <pc:sldMk cId="730501311" sldId="304"/>
            <ac:spMk id="16" creationId="{471E1424-6C4B-2D9A-1352-30AFB987AD41}"/>
          </ac:spMkLst>
        </pc:spChg>
        <pc:picChg chg="mod">
          <ac:chgData name="Miguel Angel Descalzo Cuevas" userId="0e76cc0c-ef7c-47b5-ae01-e0ac546f95ce" providerId="ADAL" clId="{A188F71C-5A23-4A88-80A3-909CB64FB59C}" dt="2026-05-03T14:21:29.988" v="4" actId="1076"/>
          <ac:picMkLst>
            <pc:docMk/>
            <pc:sldMk cId="730501311" sldId="304"/>
            <ac:picMk id="9" creationId="{DAA443AD-B19E-D7BD-5DF8-0BF0A44DFE60}"/>
          </ac:picMkLst>
        </pc:picChg>
      </pc:sldChg>
      <pc:sldChg chg="modSp mod">
        <pc:chgData name="Miguel Angel Descalzo Cuevas" userId="0e76cc0c-ef7c-47b5-ae01-e0ac546f95ce" providerId="ADAL" clId="{A188F71C-5A23-4A88-80A3-909CB64FB59C}" dt="2026-05-03T15:04:03.915" v="31" actId="20577"/>
        <pc:sldMkLst>
          <pc:docMk/>
          <pc:sldMk cId="4022481689" sldId="305"/>
        </pc:sldMkLst>
        <pc:spChg chg="mod">
          <ac:chgData name="Miguel Angel Descalzo Cuevas" userId="0e76cc0c-ef7c-47b5-ae01-e0ac546f95ce" providerId="ADAL" clId="{A188F71C-5A23-4A88-80A3-909CB64FB59C}" dt="2026-05-03T15:04:03.915" v="31" actId="20577"/>
          <ac:spMkLst>
            <pc:docMk/>
            <pc:sldMk cId="4022481689" sldId="305"/>
            <ac:spMk id="2" creationId="{3C5F434F-62FD-443B-D309-5FF3064709FD}"/>
          </ac:spMkLst>
        </pc:spChg>
      </pc:sldChg>
    </pc:docChg>
  </pc:docChgLst>
  <pc:docChgLst>
    <pc:chgData name="Javier Llacer Noha" userId="201d6fc8-240d-41eb-b5e8-7df2b4e8cdc9" providerId="ADAL" clId="{633E5B17-B377-457F-8A4D-E941040FD43F}"/>
    <pc:docChg chg="undo custSel modSld">
      <pc:chgData name="Javier Llacer Noha" userId="201d6fc8-240d-41eb-b5e8-7df2b4e8cdc9" providerId="ADAL" clId="{633E5B17-B377-457F-8A4D-E941040FD43F}" dt="2026-05-03T17:33:47.291" v="861" actId="20577"/>
      <pc:docMkLst>
        <pc:docMk/>
      </pc:docMkLst>
      <pc:sldChg chg="addSp delSp modSp mod">
        <pc:chgData name="Javier Llacer Noha" userId="201d6fc8-240d-41eb-b5e8-7df2b4e8cdc9" providerId="ADAL" clId="{633E5B17-B377-457F-8A4D-E941040FD43F}" dt="2026-05-03T17:00:21.331" v="285" actId="20577"/>
        <pc:sldMkLst>
          <pc:docMk/>
          <pc:sldMk cId="179796361" sldId="290"/>
        </pc:sldMkLst>
        <pc:spChg chg="mod">
          <ac:chgData name="Javier Llacer Noha" userId="201d6fc8-240d-41eb-b5e8-7df2b4e8cdc9" providerId="ADAL" clId="{633E5B17-B377-457F-8A4D-E941040FD43F}" dt="2026-05-03T17:00:21.331" v="285" actId="20577"/>
          <ac:spMkLst>
            <pc:docMk/>
            <pc:sldMk cId="179796361" sldId="290"/>
            <ac:spMk id="2" creationId="{D0F8CF3B-B920-DBFC-F825-0C87B51EADA7}"/>
          </ac:spMkLst>
        </pc:spChg>
        <pc:spChg chg="del">
          <ac:chgData name="Javier Llacer Noha" userId="201d6fc8-240d-41eb-b5e8-7df2b4e8cdc9" providerId="ADAL" clId="{633E5B17-B377-457F-8A4D-E941040FD43F}" dt="2026-05-03T15:05:15.133" v="25" actId="21"/>
          <ac:spMkLst>
            <pc:docMk/>
            <pc:sldMk cId="179796361" sldId="290"/>
            <ac:spMk id="7" creationId="{6D309BFB-98FD-0CBA-3C6A-346D8859893B}"/>
          </ac:spMkLst>
        </pc:spChg>
        <pc:spChg chg="del">
          <ac:chgData name="Javier Llacer Noha" userId="201d6fc8-240d-41eb-b5e8-7df2b4e8cdc9" providerId="ADAL" clId="{633E5B17-B377-457F-8A4D-E941040FD43F}" dt="2026-05-03T15:02:14.441" v="3" actId="478"/>
          <ac:spMkLst>
            <pc:docMk/>
            <pc:sldMk cId="179796361" sldId="290"/>
            <ac:spMk id="8" creationId="{E9BD6C85-02F1-7B54-41E3-E3D9883786D8}"/>
          </ac:spMkLst>
        </pc:spChg>
        <pc:spChg chg="del">
          <ac:chgData name="Javier Llacer Noha" userId="201d6fc8-240d-41eb-b5e8-7df2b4e8cdc9" providerId="ADAL" clId="{633E5B17-B377-457F-8A4D-E941040FD43F}" dt="2026-05-03T15:02:32.533" v="10" actId="478"/>
          <ac:spMkLst>
            <pc:docMk/>
            <pc:sldMk cId="179796361" sldId="290"/>
            <ac:spMk id="9" creationId="{7431A41C-EEB3-44D0-4622-A915E258C8F0}"/>
          </ac:spMkLst>
        </pc:spChg>
        <pc:spChg chg="add del">
          <ac:chgData name="Javier Llacer Noha" userId="201d6fc8-240d-41eb-b5e8-7df2b4e8cdc9" providerId="ADAL" clId="{633E5B17-B377-457F-8A4D-E941040FD43F}" dt="2026-05-03T15:02:15.740" v="5" actId="22"/>
          <ac:spMkLst>
            <pc:docMk/>
            <pc:sldMk cId="179796361" sldId="290"/>
            <ac:spMk id="10" creationId="{4E6E1C33-FCEC-E75C-88AC-7EBDFD542DAB}"/>
          </ac:spMkLst>
        </pc:spChg>
        <pc:spChg chg="add mod">
          <ac:chgData name="Javier Llacer Noha" userId="201d6fc8-240d-41eb-b5e8-7df2b4e8cdc9" providerId="ADAL" clId="{633E5B17-B377-457F-8A4D-E941040FD43F}" dt="2026-05-03T15:05:15.487" v="26"/>
          <ac:spMkLst>
            <pc:docMk/>
            <pc:sldMk cId="179796361" sldId="290"/>
            <ac:spMk id="18" creationId="{6D309BFB-98FD-0CBA-3C6A-346D8859893B}"/>
          </ac:spMkLst>
        </pc:spChg>
        <pc:picChg chg="add mod">
          <ac:chgData name="Javier Llacer Noha" userId="201d6fc8-240d-41eb-b5e8-7df2b4e8cdc9" providerId="ADAL" clId="{633E5B17-B377-457F-8A4D-E941040FD43F}" dt="2026-05-03T15:11:18.047" v="29" actId="14826"/>
          <ac:picMkLst>
            <pc:docMk/>
            <pc:sldMk cId="179796361" sldId="290"/>
            <ac:picMk id="12" creationId="{C063F03D-90F4-E331-52CB-4B4401418393}"/>
          </ac:picMkLst>
        </pc:picChg>
        <pc:picChg chg="add del">
          <ac:chgData name="Javier Llacer Noha" userId="201d6fc8-240d-41eb-b5e8-7df2b4e8cdc9" providerId="ADAL" clId="{633E5B17-B377-457F-8A4D-E941040FD43F}" dt="2026-05-03T15:04:47.847" v="14" actId="22"/>
          <ac:picMkLst>
            <pc:docMk/>
            <pc:sldMk cId="179796361" sldId="290"/>
            <ac:picMk id="14" creationId="{B1C9B5F8-8D6B-1EAC-6247-5E756C5898DC}"/>
          </ac:picMkLst>
        </pc:picChg>
        <pc:picChg chg="add mod">
          <ac:chgData name="Javier Llacer Noha" userId="201d6fc8-240d-41eb-b5e8-7df2b4e8cdc9" providerId="ADAL" clId="{633E5B17-B377-457F-8A4D-E941040FD43F}" dt="2026-05-03T16:40:07.330" v="31" actId="1076"/>
          <ac:picMkLst>
            <pc:docMk/>
            <pc:sldMk cId="179796361" sldId="290"/>
            <ac:picMk id="17" creationId="{C6C82157-84CA-440D-D8B2-CFB1C29D9E67}"/>
          </ac:picMkLst>
        </pc:picChg>
      </pc:sldChg>
      <pc:sldChg chg="addSp delSp modSp mod">
        <pc:chgData name="Javier Llacer Noha" userId="201d6fc8-240d-41eb-b5e8-7df2b4e8cdc9" providerId="ADAL" clId="{633E5B17-B377-457F-8A4D-E941040FD43F}" dt="2026-05-03T14:45:12.875" v="2" actId="1076"/>
        <pc:sldMkLst>
          <pc:docMk/>
          <pc:sldMk cId="3712356003" sldId="291"/>
        </pc:sldMkLst>
        <pc:spChg chg="add mod">
          <ac:chgData name="Javier Llacer Noha" userId="201d6fc8-240d-41eb-b5e8-7df2b4e8cdc9" providerId="ADAL" clId="{633E5B17-B377-457F-8A4D-E941040FD43F}" dt="2026-05-03T14:45:12.875" v="2" actId="1076"/>
          <ac:spMkLst>
            <pc:docMk/>
            <pc:sldMk cId="3712356003" sldId="291"/>
            <ac:spMk id="6" creationId="{FE46D6C5-F8CE-ACA6-CF36-3BEACBB70F06}"/>
          </ac:spMkLst>
        </pc:spChg>
        <pc:spChg chg="del">
          <ac:chgData name="Javier Llacer Noha" userId="201d6fc8-240d-41eb-b5e8-7df2b4e8cdc9" providerId="ADAL" clId="{633E5B17-B377-457F-8A4D-E941040FD43F}" dt="2026-05-03T14:45:09.515" v="0" actId="478"/>
          <ac:spMkLst>
            <pc:docMk/>
            <pc:sldMk cId="3712356003" sldId="291"/>
            <ac:spMk id="19" creationId="{32E39C0C-95E1-ED90-891A-5D634D9DB76B}"/>
          </ac:spMkLst>
        </pc:spChg>
      </pc:sldChg>
      <pc:sldChg chg="modSp mod">
        <pc:chgData name="Javier Llacer Noha" userId="201d6fc8-240d-41eb-b5e8-7df2b4e8cdc9" providerId="ADAL" clId="{633E5B17-B377-457F-8A4D-E941040FD43F}" dt="2026-05-03T17:33:47.291" v="861" actId="20577"/>
        <pc:sldMkLst>
          <pc:docMk/>
          <pc:sldMk cId="955145640" sldId="292"/>
        </pc:sldMkLst>
        <pc:spChg chg="mod">
          <ac:chgData name="Javier Llacer Noha" userId="201d6fc8-240d-41eb-b5e8-7df2b4e8cdc9" providerId="ADAL" clId="{633E5B17-B377-457F-8A4D-E941040FD43F}" dt="2026-05-03T17:33:47.291" v="861" actId="20577"/>
          <ac:spMkLst>
            <pc:docMk/>
            <pc:sldMk cId="955145640" sldId="292"/>
            <ac:spMk id="2" creationId="{82A62DD6-5488-72A1-9926-0CAEE59089A9}"/>
          </ac:spMkLst>
        </pc:spChg>
      </pc:sldChg>
      <pc:sldChg chg="modSp mod">
        <pc:chgData name="Javier Llacer Noha" userId="201d6fc8-240d-41eb-b5e8-7df2b4e8cdc9" providerId="ADAL" clId="{633E5B17-B377-457F-8A4D-E941040FD43F}" dt="2026-05-03T17:32:21.264" v="846" actId="20577"/>
        <pc:sldMkLst>
          <pc:docMk/>
          <pc:sldMk cId="813558068" sldId="297"/>
        </pc:sldMkLst>
        <pc:spChg chg="mod">
          <ac:chgData name="Javier Llacer Noha" userId="201d6fc8-240d-41eb-b5e8-7df2b4e8cdc9" providerId="ADAL" clId="{633E5B17-B377-457F-8A4D-E941040FD43F}" dt="2026-05-03T17:32:21.264" v="846" actId="20577"/>
          <ac:spMkLst>
            <pc:docMk/>
            <pc:sldMk cId="813558068" sldId="297"/>
            <ac:spMk id="2" creationId="{181326FD-308E-2C47-D5D2-57B3357241A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03/05/2026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03/05/2026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66037-CDDB-2A2A-C1C2-CAD05DFFC1C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56588D1-341C-DBC4-46EB-A3141DEFBB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BAED605-08F1-5FF5-6D1D-A1368229240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E204C72-BC50-D716-F34B-C50B6D0AB88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12669299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3.svg"/><Relationship Id="rId7"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3.svg"/><Relationship Id="rId7"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9061324" cy="289823"/>
          </a:xfrm>
          <a:prstGeom prst="rect">
            <a:avLst/>
          </a:prstGeom>
        </p:spPr>
        <p:txBody>
          <a:bodyPr vert="horz" wrap="square" lIns="0" tIns="12700" rIns="0" bIns="0" rtlCol="0">
            <a:spAutoFit/>
          </a:bodyPr>
          <a:lstStyle/>
          <a:p>
            <a:pPr marL="12700">
              <a:lnSpc>
                <a:spcPct val="100000"/>
              </a:lnSpc>
              <a:spcBef>
                <a:spcPts val="100"/>
              </a:spcBef>
            </a:pPr>
            <a:r>
              <a:rPr lang="es-ES" spc="165" dirty="0">
                <a:latin typeface="Arial"/>
                <a:cs typeface="Arial"/>
              </a:rPr>
              <a:t>Student: JAVIER LLACER NOHA &amp; MIGUEL ÁNGEL DESCALZO CUEVAS</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Terminal + ‘</a:t>
            </a:r>
            <a:r>
              <a:rPr lang="en-US" kern="0" dirty="0" err="1">
                <a:solidFill>
                  <a:sysClr val="windowText" lastClr="000000"/>
                </a:solidFill>
                <a:sym typeface="Wingdings" pitchFamily="2" charset="2"/>
              </a:rPr>
              <a:t>uv</a:t>
            </a:r>
            <a:r>
              <a:rPr lang="en-US" kern="0" dirty="0">
                <a:solidFill>
                  <a:sysClr val="windowText" lastClr="000000"/>
                </a:solidFill>
                <a:sym typeface="Wingdings" pitchFamily="2" charset="2"/>
              </a:rPr>
              <a:t> sync’</a:t>
            </a: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#1.1 – Materials &amp; #1.2 – Cross-Section Definition</a:t>
            </a: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87729851-275F-029D-9C55-65FD1D436242}"/>
              </a:ext>
            </a:extLst>
          </p:cNvPr>
          <p:cNvSpPr/>
          <p:nvPr/>
        </p:nvSpPr>
        <p:spPr>
          <a:xfrm>
            <a:off x="762000" y="838200"/>
            <a:ext cx="5072349" cy="19050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B8A8665F-DDCB-96E7-6FDB-7A2CE1AA66BD}"/>
              </a:ext>
            </a:extLst>
          </p:cNvPr>
          <p:cNvSpPr txBox="1"/>
          <p:nvPr/>
        </p:nvSpPr>
        <p:spPr>
          <a:xfrm>
            <a:off x="6096000" y="838200"/>
            <a:ext cx="5334000" cy="1200329"/>
          </a:xfrm>
          <a:prstGeom prst="rect">
            <a:avLst/>
          </a:prstGeom>
          <a:solidFill>
            <a:schemeClr val="bg1">
              <a:lumMod val="95000"/>
            </a:schemeClr>
          </a:solidFill>
          <a:ln w="28575">
            <a:solidFill>
              <a:srgbClr val="E0700D"/>
            </a:solidFill>
          </a:ln>
        </p:spPr>
        <p:txBody>
          <a:bodyPr wrap="square" rtlCol="0">
            <a:spAutoFit/>
          </a:bodyPr>
          <a:lstStyle/>
          <a:p>
            <a:r>
              <a:rPr lang="es-ES" sz="1200" dirty="0">
                <a:latin typeface="Arial" panose="020B0604020202020204" pitchFamily="34" charset="0"/>
                <a:cs typeface="Arial" panose="020B0604020202020204" pitchFamily="34" charset="0"/>
              </a:rPr>
              <a:t>Se ha simulado un acoplador direccional formado por dos guías de onda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de Silicon </a:t>
            </a:r>
            <a:r>
              <a:rPr lang="es-ES" sz="1200" dirty="0" err="1">
                <a:latin typeface="Arial" panose="020B0604020202020204" pitchFamily="34" charset="0"/>
                <a:cs typeface="Arial" panose="020B0604020202020204" pitchFamily="34" charset="0"/>
              </a:rPr>
              <a:t>Nitride</a:t>
            </a:r>
            <a:r>
              <a:rPr lang="es-ES" sz="1200" dirty="0">
                <a:latin typeface="Arial" panose="020B0604020202020204" pitchFamily="34" charset="0"/>
                <a:cs typeface="Arial" panose="020B0604020202020204" pitchFamily="34" charset="0"/>
              </a:rPr>
              <a:t> (Si3N4), cada una con un ancho de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una altura de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separadas por un gap de 0.6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rodeadas por SiO2. Como se muestra en la sección transversal, el índice efectivo del núcleo de Si3N4 es mayor que el de la cubierta de SiO2, lo que permite el confinamiento de la luz y su propagación a lo largo de las guías.</a:t>
            </a:r>
            <a:endParaRPr lang="en-US" sz="1200" dirty="0">
              <a:latin typeface="Arial" panose="020B0604020202020204" pitchFamily="34" charset="0"/>
              <a:cs typeface="Arial" panose="020B0604020202020204" pitchFamily="34" charset="0"/>
            </a:endParaRPr>
          </a:p>
        </p:txBody>
      </p:sp>
      <p:pic>
        <p:nvPicPr>
          <p:cNvPr id="9" name="Imagen 8">
            <a:extLst>
              <a:ext uri="{FF2B5EF4-FFF2-40B4-BE49-F238E27FC236}">
                <a16:creationId xmlns:a16="http://schemas.microsoft.com/office/drawing/2014/main" id="{DAA443AD-B19E-D7BD-5DF8-0BF0A44DFE60}"/>
              </a:ext>
            </a:extLst>
          </p:cNvPr>
          <p:cNvPicPr>
            <a:picLocks noChangeAspect="1"/>
          </p:cNvPicPr>
          <p:nvPr/>
        </p:nvPicPr>
        <p:blipFill>
          <a:blip r:embed="rId4"/>
          <a:srcRect t="1510"/>
          <a:stretch>
            <a:fillRect/>
          </a:stretch>
        </p:blipFill>
        <p:spPr>
          <a:xfrm>
            <a:off x="1996770" y="876505"/>
            <a:ext cx="2651430" cy="1833626"/>
          </a:xfrm>
          <a:prstGeom prst="rect">
            <a:avLst/>
          </a:prstGeom>
        </p:spPr>
      </p:pic>
      <p:sp>
        <p:nvSpPr>
          <p:cNvPr id="12" name="object 16">
            <a:extLst>
              <a:ext uri="{FF2B5EF4-FFF2-40B4-BE49-F238E27FC236}">
                <a16:creationId xmlns:a16="http://schemas.microsoft.com/office/drawing/2014/main" id="{2A11BD03-CABD-A52B-AE05-468D3B5E24E0}"/>
              </a:ext>
            </a:extLst>
          </p:cNvPr>
          <p:cNvSpPr txBox="1">
            <a:spLocks/>
          </p:cNvSpPr>
          <p:nvPr/>
        </p:nvSpPr>
        <p:spPr>
          <a:xfrm>
            <a:off x="689429" y="2743200"/>
            <a:ext cx="10994410" cy="3975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#1.3 – Simulations</a:t>
            </a:r>
            <a:endParaRPr lang="en-US" sz="2500" b="0" kern="0" dirty="0">
              <a:latin typeface="+mj-lt"/>
              <a:cs typeface="Lucida Sans"/>
            </a:endParaRPr>
          </a:p>
        </p:txBody>
      </p:sp>
      <p:sp>
        <p:nvSpPr>
          <p:cNvPr id="13" name="Rectángulo 12">
            <a:extLst>
              <a:ext uri="{FF2B5EF4-FFF2-40B4-BE49-F238E27FC236}">
                <a16:creationId xmlns:a16="http://schemas.microsoft.com/office/drawing/2014/main" id="{903FE501-57B8-0DB8-FCF1-D025F6658DC9}"/>
              </a:ext>
            </a:extLst>
          </p:cNvPr>
          <p:cNvSpPr/>
          <p:nvPr/>
        </p:nvSpPr>
        <p:spPr>
          <a:xfrm>
            <a:off x="762000" y="3150215"/>
            <a:ext cx="10740571" cy="1981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Imagen 14">
            <a:extLst>
              <a:ext uri="{FF2B5EF4-FFF2-40B4-BE49-F238E27FC236}">
                <a16:creationId xmlns:a16="http://schemas.microsoft.com/office/drawing/2014/main" id="{E87B064D-8FB8-FF88-B87C-636DF212FEC9}"/>
              </a:ext>
            </a:extLst>
          </p:cNvPr>
          <p:cNvPicPr>
            <a:picLocks noChangeAspect="1"/>
          </p:cNvPicPr>
          <p:nvPr/>
        </p:nvPicPr>
        <p:blipFill>
          <a:blip r:embed="rId5"/>
          <a:stretch>
            <a:fillRect/>
          </a:stretch>
        </p:blipFill>
        <p:spPr>
          <a:xfrm>
            <a:off x="796095" y="3255215"/>
            <a:ext cx="2632905" cy="1800000"/>
          </a:xfrm>
          <a:prstGeom prst="rect">
            <a:avLst/>
          </a:prstGeom>
        </p:spPr>
      </p:pic>
      <p:pic>
        <p:nvPicPr>
          <p:cNvPr id="18" name="Imagen 17">
            <a:extLst>
              <a:ext uri="{FF2B5EF4-FFF2-40B4-BE49-F238E27FC236}">
                <a16:creationId xmlns:a16="http://schemas.microsoft.com/office/drawing/2014/main" id="{B879B44B-ED1D-1315-3297-D7A37B0B919B}"/>
              </a:ext>
            </a:extLst>
          </p:cNvPr>
          <p:cNvPicPr>
            <a:picLocks noChangeAspect="1"/>
          </p:cNvPicPr>
          <p:nvPr/>
        </p:nvPicPr>
        <p:blipFill>
          <a:blip r:embed="rId6"/>
          <a:stretch>
            <a:fillRect/>
          </a:stretch>
        </p:blipFill>
        <p:spPr>
          <a:xfrm>
            <a:off x="3429000" y="3255215"/>
            <a:ext cx="2688432" cy="1800000"/>
          </a:xfrm>
          <a:prstGeom prst="rect">
            <a:avLst/>
          </a:prstGeom>
        </p:spPr>
      </p:pic>
      <p:pic>
        <p:nvPicPr>
          <p:cNvPr id="20" name="Imagen 19">
            <a:extLst>
              <a:ext uri="{FF2B5EF4-FFF2-40B4-BE49-F238E27FC236}">
                <a16:creationId xmlns:a16="http://schemas.microsoft.com/office/drawing/2014/main" id="{958DD0D8-A5CF-2877-3C04-AB4E9C18F37C}"/>
              </a:ext>
            </a:extLst>
          </p:cNvPr>
          <p:cNvPicPr>
            <a:picLocks noChangeAspect="1"/>
          </p:cNvPicPr>
          <p:nvPr/>
        </p:nvPicPr>
        <p:blipFill>
          <a:blip r:embed="rId7"/>
          <a:stretch>
            <a:fillRect/>
          </a:stretch>
        </p:blipFill>
        <p:spPr>
          <a:xfrm>
            <a:off x="6113253" y="3255215"/>
            <a:ext cx="2693059" cy="1800000"/>
          </a:xfrm>
          <a:prstGeom prst="rect">
            <a:avLst/>
          </a:prstGeom>
        </p:spPr>
      </p:pic>
      <p:pic>
        <p:nvPicPr>
          <p:cNvPr id="22" name="Imagen 21">
            <a:extLst>
              <a:ext uri="{FF2B5EF4-FFF2-40B4-BE49-F238E27FC236}">
                <a16:creationId xmlns:a16="http://schemas.microsoft.com/office/drawing/2014/main" id="{BEE7D471-1C6E-9B18-ED41-F26B9F07DDEB}"/>
              </a:ext>
            </a:extLst>
          </p:cNvPr>
          <p:cNvPicPr>
            <a:picLocks noChangeAspect="1"/>
          </p:cNvPicPr>
          <p:nvPr/>
        </p:nvPicPr>
        <p:blipFill>
          <a:blip r:embed="rId8"/>
          <a:stretch>
            <a:fillRect/>
          </a:stretch>
        </p:blipFill>
        <p:spPr>
          <a:xfrm>
            <a:off x="8803780" y="3255215"/>
            <a:ext cx="2681538" cy="1800000"/>
          </a:xfrm>
          <a:prstGeom prst="rect">
            <a:avLst/>
          </a:prstGeom>
        </p:spPr>
      </p:pic>
      <p:sp>
        <p:nvSpPr>
          <p:cNvPr id="23" name="CuadroTexto 22">
            <a:extLst>
              <a:ext uri="{FF2B5EF4-FFF2-40B4-BE49-F238E27FC236}">
                <a16:creationId xmlns:a16="http://schemas.microsoft.com/office/drawing/2014/main" id="{6F1C4DCC-A302-C679-0406-F0F54778F303}"/>
              </a:ext>
            </a:extLst>
          </p:cNvPr>
          <p:cNvSpPr txBox="1"/>
          <p:nvPr/>
        </p:nvSpPr>
        <p:spPr>
          <a:xfrm>
            <a:off x="766587" y="5236415"/>
            <a:ext cx="10735983" cy="830997"/>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los acopladores direccionales, la interacción entre los modos individuales de cada guía da lugar a </a:t>
            </a:r>
            <a:r>
              <a:rPr lang="es-ES" sz="1200" dirty="0" err="1">
                <a:latin typeface="Arial" panose="020B0604020202020204" pitchFamily="34" charset="0"/>
                <a:cs typeface="Arial" panose="020B0604020202020204" pitchFamily="34" charset="0"/>
              </a:rPr>
              <a:t>supermodos</a:t>
            </a:r>
            <a:r>
              <a:rPr lang="es-ES" sz="1200" dirty="0">
                <a:latin typeface="Arial" panose="020B0604020202020204" pitchFamily="34" charset="0"/>
                <a:cs typeface="Arial" panose="020B0604020202020204" pitchFamily="34" charset="0"/>
              </a:rPr>
              <a:t> TE y TM, par e impar. En las imágenes se representan, respectivamente, el modo TE par, el modo TE impar, el modo TM par y el modo TM impar simulados para una longitud de onda de 1550 nm. A partir de las constantes de propagación de los modos par e impar se calcula la distancia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definida como la longitud a la que se produce la máxima transferencia de potencia de una guía a la otra para un modo TE o TM. Para este acoplador se obtiene </a:t>
            </a:r>
            <a:r>
              <a:rPr lang="es-ES" sz="1200" dirty="0" err="1">
                <a:latin typeface="Arial" panose="020B0604020202020204" pitchFamily="34" charset="0"/>
                <a:cs typeface="Arial" panose="020B0604020202020204" pitchFamily="34" charset="0"/>
              </a:rPr>
              <a:t>Lpi,TM</a:t>
            </a:r>
            <a:r>
              <a:rPr lang="es-ES" sz="1200" dirty="0">
                <a:latin typeface="Arial" panose="020B0604020202020204" pitchFamily="34" charset="0"/>
                <a:cs typeface="Arial" panose="020B0604020202020204" pitchFamily="34" charset="0"/>
              </a:rPr>
              <a:t> = 93.83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Lpi,TE</a:t>
            </a:r>
            <a:r>
              <a:rPr lang="es-ES" sz="1200" dirty="0">
                <a:latin typeface="Arial" panose="020B0604020202020204" pitchFamily="34" charset="0"/>
                <a:cs typeface="Arial" panose="020B0604020202020204" pitchFamily="34" charset="0"/>
              </a:rPr>
              <a:t> = 52.26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El coeficiente de acoplo k indica qué fracción de potencia se transfiere de una guía a la otra, pudiendo obtener una transferencia completa, un divisor 50/50 u otras combinaciones. Como se observa en la fórmula, este coeficiente depende de la longitud del acoplador L y de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la gráfica se observa que k varía periódicamente. Para L =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se obtiene k = 1, es decir, una transferencia completa de potencia de una guía a la otra. En cambio, para L =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/2, se obtiene k = 0.5, correspondiente a un divisor 50/50. Además, aunque el gap no aparece directamente en la fórmula, sí afecta porque modifica el valor de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676E68DF-FCF4-018B-334F-E964C9603635}"/>
              </a:ext>
            </a:extLst>
          </p:cNvPr>
          <p:cNvPicPr>
            <a:picLocks noChangeAspect="1"/>
          </p:cNvPicPr>
          <p:nvPr/>
        </p:nvPicPr>
        <p:blipFill>
          <a:blip r:embed="rId5"/>
          <a:stretch>
            <a:fillRect/>
          </a:stretch>
        </p:blipFill>
        <p:spPr>
          <a:xfrm>
            <a:off x="3992754" y="1547387"/>
            <a:ext cx="4000500" cy="3048000"/>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Se ha realizado un barrido del gap entre 0.2 y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En todos los casos se ha ajustado la longitud del acoplador para obtener un ratio 50/50, consiguiendo un ratio equilibrado de potencia. Al aumentar el gap, el acoplo entre guías disminuye, por lo que la longitud necesaria aumenta, pasando de 12.91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para gap = 0.2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hasta 290.21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para gap =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Las pérdidas también dependen del gap: el mejor caso se obtiene para gap = 0.8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con una </a:t>
            </a:r>
            <a:r>
              <a:rPr lang="es-ES" sz="1200" dirty="0" err="1">
                <a:latin typeface="Arial" panose="020B0604020202020204" pitchFamily="34" charset="0"/>
                <a:cs typeface="Arial" panose="020B0604020202020204" pitchFamily="34" charset="0"/>
              </a:rPr>
              <a:t>excess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de 0.0976 dB, mientras que para gaps más pequeños o más grandes las pérdidas son mayores. </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Por tanto, el gap condiciona el diseño y puede ser problemático en fabricación, ya que un gap pequeño reduce la longitud del dispositivo, pero es más difícil de fabricar con precisión, y pequeñas variaciones pueden afectar al acoplo y al ratio final.</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228601" y="1418373"/>
            <a:ext cx="11734800" cy="3171821"/>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ángulo 3">
            <a:extLst>
              <a:ext uri="{FF2B5EF4-FFF2-40B4-BE49-F238E27FC236}">
                <a16:creationId xmlns:a16="http://schemas.microsoft.com/office/drawing/2014/main" id="{E79CB579-8A40-521B-C5FD-7C236A05F796}"/>
              </a:ext>
            </a:extLst>
          </p:cNvPr>
          <p:cNvSpPr/>
          <p:nvPr/>
        </p:nvSpPr>
        <p:spPr>
          <a:xfrm>
            <a:off x="228600" y="1418372"/>
            <a:ext cx="1950981" cy="3171822"/>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70A4D896-5397-A7AD-510D-75DFEE87FD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1968" y="1531811"/>
            <a:ext cx="1624243" cy="664072"/>
          </a:xfrm>
          <a:prstGeom prst="rect">
            <a:avLst/>
          </a:prstGeom>
          <a:noFill/>
          <a:extLst>
            <a:ext uri="{909E8E84-426E-40DD-AFC4-6F175D3DCCD1}">
              <a14:hiddenFill xmlns:a14="http://schemas.microsoft.com/office/drawing/2010/main">
                <a:solidFill>
                  <a:srgbClr val="FFFFFF"/>
                </a:solidFill>
              </a14:hiddenFill>
            </a:ext>
          </a:extLst>
        </p:spPr>
      </p:pic>
      <p:sp>
        <p:nvSpPr>
          <p:cNvPr id="9" name="CuadroTexto 8">
            <a:extLst>
              <a:ext uri="{FF2B5EF4-FFF2-40B4-BE49-F238E27FC236}">
                <a16:creationId xmlns:a16="http://schemas.microsoft.com/office/drawing/2014/main" id="{FCD04733-37F7-66EE-D004-56A635AF78D8}"/>
              </a:ext>
            </a:extLst>
          </p:cNvPr>
          <p:cNvSpPr txBox="1"/>
          <p:nvPr/>
        </p:nvSpPr>
        <p:spPr>
          <a:xfrm>
            <a:off x="235577" y="2389978"/>
            <a:ext cx="1956098" cy="1754326"/>
          </a:xfrm>
          <a:prstGeom prst="rect">
            <a:avLst/>
          </a:prstGeom>
          <a:noFill/>
        </p:spPr>
        <p:txBody>
          <a:bodyPr wrap="square">
            <a:spAutoFit/>
          </a:bodyPr>
          <a:lstStyle/>
          <a:p>
            <a:pPr algn="ctr">
              <a:buNone/>
            </a:pPr>
            <a:r>
              <a:rPr lang="en-US" sz="900" dirty="0">
                <a:effectLst/>
              </a:rPr>
              <a:t>------- </a:t>
            </a:r>
            <a:r>
              <a:rPr lang="en-US" sz="900" dirty="0" err="1">
                <a:effectLst/>
              </a:rPr>
              <a:t>Pameters</a:t>
            </a:r>
            <a:r>
              <a:rPr lang="en-US" sz="900" dirty="0">
                <a:effectLst/>
              </a:rPr>
              <a:t> -------</a:t>
            </a:r>
          </a:p>
          <a:p>
            <a:pPr algn="ctr">
              <a:buNone/>
            </a:pPr>
            <a:r>
              <a:rPr lang="en-US" sz="900" dirty="0">
                <a:effectLst/>
              </a:rPr>
              <a:t>MMI length 12.9071</a:t>
            </a:r>
          </a:p>
          <a:p>
            <a:pPr algn="ctr">
              <a:buNone/>
            </a:pPr>
            <a:r>
              <a:rPr lang="en-US" sz="900" dirty="0">
                <a:effectLst/>
              </a:rPr>
              <a:t>MMI length increment 0.0000</a:t>
            </a:r>
          </a:p>
          <a:p>
            <a:pPr algn="ctr">
              <a:buNone/>
            </a:pPr>
            <a:r>
              <a:rPr lang="en-US" sz="900" dirty="0">
                <a:effectLst/>
              </a:rPr>
              <a:t>IO </a:t>
            </a:r>
            <a:r>
              <a:rPr lang="en-US" sz="900" dirty="0" err="1">
                <a:effectLst/>
              </a:rPr>
              <a:t>wg</a:t>
            </a:r>
            <a:r>
              <a:rPr lang="en-US" sz="900" dirty="0">
                <a:effectLst/>
              </a:rPr>
              <a:t> width 1.0000</a:t>
            </a:r>
          </a:p>
          <a:p>
            <a:pPr algn="ctr">
              <a:buNone/>
            </a:pPr>
            <a:r>
              <a:rPr lang="en-US" sz="900" dirty="0">
                <a:effectLst/>
              </a:rPr>
              <a:t>IO </a:t>
            </a:r>
            <a:r>
              <a:rPr lang="en-US" sz="900" dirty="0" err="1">
                <a:effectLst/>
              </a:rPr>
              <a:t>wg</a:t>
            </a:r>
            <a:r>
              <a:rPr lang="en-US" sz="900" dirty="0">
                <a:effectLst/>
              </a:rPr>
              <a:t> width increment 0.0000</a:t>
            </a:r>
          </a:p>
          <a:p>
            <a:pPr algn="ctr">
              <a:buNone/>
            </a:pPr>
            <a:r>
              <a:rPr lang="en-US" sz="900" dirty="0">
                <a:effectLst/>
              </a:rPr>
              <a:t>------------------------</a:t>
            </a:r>
          </a:p>
          <a:p>
            <a:pPr algn="ctr">
              <a:buNone/>
            </a:pPr>
            <a:r>
              <a:rPr lang="en-US" sz="900" dirty="0">
                <a:effectLst/>
              </a:rPr>
              <a:t>Total power IN coupled 0.7802</a:t>
            </a:r>
          </a:p>
          <a:p>
            <a:pPr algn="ctr">
              <a:buNone/>
            </a:pPr>
            <a:r>
              <a:rPr lang="en-US" sz="900" dirty="0">
                <a:effectLst/>
              </a:rPr>
              <a:t>Total OUT power: 0.7586</a:t>
            </a:r>
          </a:p>
          <a:p>
            <a:pPr algn="ctr">
              <a:buNone/>
            </a:pPr>
            <a:r>
              <a:rPr lang="en-US" sz="900" dirty="0">
                <a:effectLst/>
              </a:rPr>
              <a:t>Excess loss [dB] =  1.2000</a:t>
            </a:r>
          </a:p>
          <a:p>
            <a:pPr algn="ctr">
              <a:buNone/>
            </a:pPr>
            <a:r>
              <a:rPr lang="en-US" sz="900" dirty="0">
                <a:effectLst/>
              </a:rPr>
              <a:t>------------------------</a:t>
            </a:r>
          </a:p>
          <a:p>
            <a:pPr algn="ctr">
              <a:buNone/>
            </a:pPr>
            <a:r>
              <a:rPr lang="en-US" sz="900" dirty="0">
                <a:effectLst/>
              </a:rPr>
              <a:t>Power over OUTs:  ['0.3792', '0.3794’]</a:t>
            </a:r>
          </a:p>
          <a:p>
            <a:pPr algn="ctr">
              <a:buNone/>
            </a:pPr>
            <a:r>
              <a:rPr lang="en-US" sz="900" dirty="0">
                <a:effectLst/>
              </a:rPr>
              <a:t>Ratio over OUTs: ['0.4999', '0.5001']</a:t>
            </a:r>
            <a:endParaRPr lang="en-US" sz="900" dirty="0"/>
          </a:p>
        </p:txBody>
      </p:sp>
      <p:sp>
        <p:nvSpPr>
          <p:cNvPr id="10" name="CuadroTexto 9">
            <a:extLst>
              <a:ext uri="{FF2B5EF4-FFF2-40B4-BE49-F238E27FC236}">
                <a16:creationId xmlns:a16="http://schemas.microsoft.com/office/drawing/2014/main" id="{7676FA06-7892-4EB0-347C-1CF2C7C01ED3}"/>
              </a:ext>
            </a:extLst>
          </p:cNvPr>
          <p:cNvSpPr txBox="1"/>
          <p:nvPr/>
        </p:nvSpPr>
        <p:spPr>
          <a:xfrm>
            <a:off x="285420" y="4307292"/>
            <a:ext cx="1837338" cy="246221"/>
          </a:xfrm>
          <a:prstGeom prst="rect">
            <a:avLst/>
          </a:prstGeom>
          <a:noFill/>
        </p:spPr>
        <p:txBody>
          <a:bodyPr wrap="square">
            <a:spAutoFit/>
          </a:bodyPr>
          <a:lstStyle/>
          <a:p>
            <a:pPr algn="ctr">
              <a:buNone/>
            </a:pPr>
            <a:r>
              <a:rPr lang="en-US" sz="1000" dirty="0"/>
              <a:t>Gap = 0.2</a:t>
            </a:r>
          </a:p>
        </p:txBody>
      </p:sp>
      <p:sp>
        <p:nvSpPr>
          <p:cNvPr id="11" name="Rectángulo 10">
            <a:extLst>
              <a:ext uri="{FF2B5EF4-FFF2-40B4-BE49-F238E27FC236}">
                <a16:creationId xmlns:a16="http://schemas.microsoft.com/office/drawing/2014/main" id="{6E9D1AB3-A93D-46F8-E7F4-997685FDE2C8}"/>
              </a:ext>
            </a:extLst>
          </p:cNvPr>
          <p:cNvSpPr/>
          <p:nvPr/>
        </p:nvSpPr>
        <p:spPr>
          <a:xfrm>
            <a:off x="2184718" y="1417194"/>
            <a:ext cx="1950981" cy="3160695"/>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2">
            <a:extLst>
              <a:ext uri="{FF2B5EF4-FFF2-40B4-BE49-F238E27FC236}">
                <a16:creationId xmlns:a16="http://schemas.microsoft.com/office/drawing/2014/main" id="{DA25A72A-79BF-9806-109F-AC49325C99FE}"/>
              </a:ext>
            </a:extLst>
          </p:cNvPr>
          <p:cNvPicPr>
            <a:picLocks noChangeAspect="1" noChangeArrowheads="1"/>
          </p:cNvPicPr>
          <p:nvPr/>
        </p:nvPicPr>
        <p:blipFill>
          <a:blip r:embed="rId5"/>
          <a:srcRect/>
          <a:stretch/>
        </p:blipFill>
        <p:spPr bwMode="auto">
          <a:xfrm>
            <a:off x="2348086" y="1605545"/>
            <a:ext cx="1624243" cy="514249"/>
          </a:xfrm>
          <a:prstGeom prst="rect">
            <a:avLst/>
          </a:prstGeom>
          <a:noFill/>
          <a:extLst>
            <a:ext uri="{909E8E84-426E-40DD-AFC4-6F175D3DCCD1}">
              <a14:hiddenFill xmlns:a14="http://schemas.microsoft.com/office/drawing/2010/main">
                <a:solidFill>
                  <a:srgbClr val="FFFFFF"/>
                </a:solidFill>
              </a14:hiddenFill>
            </a:ext>
          </a:extLst>
        </p:spPr>
      </p:pic>
      <p:sp>
        <p:nvSpPr>
          <p:cNvPr id="13" name="CuadroTexto 12">
            <a:extLst>
              <a:ext uri="{FF2B5EF4-FFF2-40B4-BE49-F238E27FC236}">
                <a16:creationId xmlns:a16="http://schemas.microsoft.com/office/drawing/2014/main" id="{A817E037-D47E-AC52-394C-12635B048FAA}"/>
              </a:ext>
            </a:extLst>
          </p:cNvPr>
          <p:cNvSpPr txBox="1"/>
          <p:nvPr/>
        </p:nvSpPr>
        <p:spPr>
          <a:xfrm>
            <a:off x="2176659" y="2388801"/>
            <a:ext cx="1959040" cy="1754326"/>
          </a:xfrm>
          <a:prstGeom prst="rect">
            <a:avLst/>
          </a:prstGeom>
          <a:noFill/>
        </p:spPr>
        <p:txBody>
          <a:bodyPr wrap="square">
            <a:spAutoFit/>
          </a:bodyPr>
          <a:lstStyle/>
          <a:p>
            <a:pPr algn="ctr">
              <a:buNone/>
            </a:pPr>
            <a:r>
              <a:rPr lang="en-US" sz="900" dirty="0"/>
              <a:t>------- </a:t>
            </a:r>
            <a:r>
              <a:rPr lang="en-US" sz="900" dirty="0" err="1"/>
              <a:t>Pameters</a:t>
            </a:r>
            <a:r>
              <a:rPr lang="en-US" sz="900" dirty="0"/>
              <a:t> -------</a:t>
            </a:r>
            <a:br>
              <a:rPr lang="en-US" sz="900" dirty="0"/>
            </a:br>
            <a:r>
              <a:rPr lang="en-US" sz="900" dirty="0"/>
              <a:t>MMI length 25.0550</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0.8983</a:t>
            </a:r>
            <a:br>
              <a:rPr lang="en-US" sz="900" dirty="0"/>
            </a:br>
            <a:r>
              <a:rPr lang="en-US" sz="900" dirty="0"/>
              <a:t>Total OUT power: 0.8863</a:t>
            </a:r>
            <a:br>
              <a:rPr lang="en-US" sz="900" dirty="0"/>
            </a:br>
            <a:r>
              <a:rPr lang="en-US" sz="900" dirty="0"/>
              <a:t>Excess loss [dB] =  0.5243</a:t>
            </a:r>
            <a:br>
              <a:rPr lang="en-US" sz="900" dirty="0"/>
            </a:br>
            <a:r>
              <a:rPr lang="en-US" sz="900" dirty="0"/>
              <a:t>------------------------</a:t>
            </a:r>
            <a:br>
              <a:rPr lang="en-US" sz="900" dirty="0"/>
            </a:br>
            <a:r>
              <a:rPr lang="en-US" sz="900" dirty="0"/>
              <a:t>Power over OUTs:  ['0.4433', '0.4430']</a:t>
            </a:r>
            <a:br>
              <a:rPr lang="en-US" sz="900" dirty="0"/>
            </a:br>
            <a:r>
              <a:rPr lang="en-US" sz="900" dirty="0"/>
              <a:t>Ratio over OUTs: ['0.5001', '0.4999']</a:t>
            </a:r>
          </a:p>
        </p:txBody>
      </p:sp>
      <p:sp>
        <p:nvSpPr>
          <p:cNvPr id="14" name="CuadroTexto 13">
            <a:extLst>
              <a:ext uri="{FF2B5EF4-FFF2-40B4-BE49-F238E27FC236}">
                <a16:creationId xmlns:a16="http://schemas.microsoft.com/office/drawing/2014/main" id="{8D6A9C22-541A-0262-5DE6-373F890DE8D7}"/>
              </a:ext>
            </a:extLst>
          </p:cNvPr>
          <p:cNvSpPr txBox="1"/>
          <p:nvPr/>
        </p:nvSpPr>
        <p:spPr>
          <a:xfrm>
            <a:off x="2241538" y="4306115"/>
            <a:ext cx="1837338" cy="246221"/>
          </a:xfrm>
          <a:prstGeom prst="rect">
            <a:avLst/>
          </a:prstGeom>
          <a:noFill/>
        </p:spPr>
        <p:txBody>
          <a:bodyPr wrap="square">
            <a:spAutoFit/>
          </a:bodyPr>
          <a:lstStyle/>
          <a:p>
            <a:pPr algn="ctr">
              <a:buNone/>
            </a:pPr>
            <a:r>
              <a:rPr lang="en-US" sz="1000" dirty="0"/>
              <a:t>Gap = 0.4</a:t>
            </a:r>
          </a:p>
        </p:txBody>
      </p:sp>
      <p:pic>
        <p:nvPicPr>
          <p:cNvPr id="17" name="Picture 2">
            <a:extLst>
              <a:ext uri="{FF2B5EF4-FFF2-40B4-BE49-F238E27FC236}">
                <a16:creationId xmlns:a16="http://schemas.microsoft.com/office/drawing/2014/main" id="{47351C2B-31F5-065B-E11C-7FF085844DB5}"/>
              </a:ext>
            </a:extLst>
          </p:cNvPr>
          <p:cNvPicPr>
            <a:picLocks noChangeAspect="1" noChangeArrowheads="1"/>
          </p:cNvPicPr>
          <p:nvPr/>
        </p:nvPicPr>
        <p:blipFill>
          <a:blip r:embed="rId6"/>
          <a:srcRect/>
          <a:stretch/>
        </p:blipFill>
        <p:spPr bwMode="auto">
          <a:xfrm>
            <a:off x="4318464" y="1669281"/>
            <a:ext cx="1624243" cy="413086"/>
          </a:xfrm>
          <a:prstGeom prst="rect">
            <a:avLst/>
          </a:prstGeom>
          <a:noFill/>
          <a:extLst>
            <a:ext uri="{909E8E84-426E-40DD-AFC4-6F175D3DCCD1}">
              <a14:hiddenFill xmlns:a14="http://schemas.microsoft.com/office/drawing/2010/main">
                <a:solidFill>
                  <a:srgbClr val="FFFFFF"/>
                </a:solidFill>
              </a14:hiddenFill>
            </a:ext>
          </a:extLst>
        </p:spPr>
      </p:pic>
      <p:sp>
        <p:nvSpPr>
          <p:cNvPr id="18" name="CuadroTexto 17">
            <a:extLst>
              <a:ext uri="{FF2B5EF4-FFF2-40B4-BE49-F238E27FC236}">
                <a16:creationId xmlns:a16="http://schemas.microsoft.com/office/drawing/2014/main" id="{7AC66D83-F2E1-4983-8926-E4FE372A648B}"/>
              </a:ext>
            </a:extLst>
          </p:cNvPr>
          <p:cNvSpPr txBox="1"/>
          <p:nvPr/>
        </p:nvSpPr>
        <p:spPr>
          <a:xfrm>
            <a:off x="4120663" y="2401955"/>
            <a:ext cx="1985411" cy="1754326"/>
          </a:xfrm>
          <a:prstGeom prst="rect">
            <a:avLst/>
          </a:prstGeom>
          <a:noFill/>
        </p:spPr>
        <p:txBody>
          <a:bodyPr wrap="square">
            <a:spAutoFit/>
          </a:bodyPr>
          <a:lstStyle/>
          <a:p>
            <a:pPr algn="ctr">
              <a:buNone/>
            </a:pPr>
            <a:r>
              <a:rPr lang="en-US" sz="900" dirty="0"/>
              <a:t>------- </a:t>
            </a:r>
            <a:r>
              <a:rPr lang="en-US" sz="900" dirty="0" err="1"/>
              <a:t>Pameters</a:t>
            </a:r>
            <a:r>
              <a:rPr lang="en-US" sz="900" dirty="0"/>
              <a:t> -------</a:t>
            </a:r>
            <a:br>
              <a:rPr lang="en-US" sz="900" dirty="0"/>
            </a:br>
            <a:r>
              <a:rPr lang="en-US" sz="900" dirty="0"/>
              <a:t>MMI length 47.0137</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0.9688</a:t>
            </a:r>
            <a:br>
              <a:rPr lang="en-US" sz="900" dirty="0"/>
            </a:br>
            <a:r>
              <a:rPr lang="en-US" sz="900" dirty="0"/>
              <a:t>Total OUT power: 0.9583</a:t>
            </a:r>
            <a:br>
              <a:rPr lang="en-US" sz="900" dirty="0"/>
            </a:br>
            <a:r>
              <a:rPr lang="en-US" sz="900" dirty="0"/>
              <a:t>Excess loss [dB] =  0.1851</a:t>
            </a:r>
            <a:br>
              <a:rPr lang="en-US" sz="900" dirty="0"/>
            </a:br>
            <a:r>
              <a:rPr lang="en-US" sz="900" dirty="0"/>
              <a:t>------------------------</a:t>
            </a:r>
            <a:br>
              <a:rPr lang="en-US" sz="900" dirty="0"/>
            </a:br>
            <a:r>
              <a:rPr lang="en-US" sz="900" dirty="0"/>
              <a:t>Power over OUTs:  ['0.4791', '0.4791']</a:t>
            </a:r>
            <a:br>
              <a:rPr lang="en-US" sz="900" dirty="0"/>
            </a:br>
            <a:r>
              <a:rPr lang="en-US" sz="900" dirty="0"/>
              <a:t>Ratio over OUTs: ['0.5000', '0.5000']</a:t>
            </a:r>
          </a:p>
        </p:txBody>
      </p:sp>
      <p:sp>
        <p:nvSpPr>
          <p:cNvPr id="19" name="CuadroTexto 18">
            <a:extLst>
              <a:ext uri="{FF2B5EF4-FFF2-40B4-BE49-F238E27FC236}">
                <a16:creationId xmlns:a16="http://schemas.microsoft.com/office/drawing/2014/main" id="{1EE1672C-D49B-6E74-253B-D94775444269}"/>
              </a:ext>
            </a:extLst>
          </p:cNvPr>
          <p:cNvSpPr txBox="1"/>
          <p:nvPr/>
        </p:nvSpPr>
        <p:spPr>
          <a:xfrm>
            <a:off x="4211916" y="4319269"/>
            <a:ext cx="1837338" cy="246221"/>
          </a:xfrm>
          <a:prstGeom prst="rect">
            <a:avLst/>
          </a:prstGeom>
          <a:noFill/>
        </p:spPr>
        <p:txBody>
          <a:bodyPr wrap="square">
            <a:spAutoFit/>
          </a:bodyPr>
          <a:lstStyle/>
          <a:p>
            <a:pPr algn="ctr">
              <a:buNone/>
            </a:pPr>
            <a:r>
              <a:rPr lang="en-US" sz="1000" dirty="0"/>
              <a:t>Gap = 0.6</a:t>
            </a:r>
          </a:p>
        </p:txBody>
      </p:sp>
      <p:sp>
        <p:nvSpPr>
          <p:cNvPr id="20" name="Rectángulo 19">
            <a:extLst>
              <a:ext uri="{FF2B5EF4-FFF2-40B4-BE49-F238E27FC236}">
                <a16:creationId xmlns:a16="http://schemas.microsoft.com/office/drawing/2014/main" id="{44C01FA7-6D56-8B6C-1A4F-71FB45C3BEDF}"/>
              </a:ext>
            </a:extLst>
          </p:cNvPr>
          <p:cNvSpPr/>
          <p:nvPr/>
        </p:nvSpPr>
        <p:spPr>
          <a:xfrm>
            <a:off x="6106077" y="1416764"/>
            <a:ext cx="1950981" cy="3164835"/>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Picture 2">
            <a:extLst>
              <a:ext uri="{FF2B5EF4-FFF2-40B4-BE49-F238E27FC236}">
                <a16:creationId xmlns:a16="http://schemas.microsoft.com/office/drawing/2014/main" id="{677234DE-6E70-A48D-E0A8-5D816B89722B}"/>
              </a:ext>
            </a:extLst>
          </p:cNvPr>
          <p:cNvPicPr>
            <a:picLocks noChangeAspect="1" noChangeArrowheads="1"/>
          </p:cNvPicPr>
          <p:nvPr/>
        </p:nvPicPr>
        <p:blipFill>
          <a:blip r:embed="rId7"/>
          <a:srcRect/>
          <a:stretch/>
        </p:blipFill>
        <p:spPr bwMode="auto">
          <a:xfrm>
            <a:off x="6269445" y="1704541"/>
            <a:ext cx="1624243" cy="342833"/>
          </a:xfrm>
          <a:prstGeom prst="rect">
            <a:avLst/>
          </a:prstGeom>
          <a:noFill/>
          <a:extLst>
            <a:ext uri="{909E8E84-426E-40DD-AFC4-6F175D3DCCD1}">
              <a14:hiddenFill xmlns:a14="http://schemas.microsoft.com/office/drawing/2010/main">
                <a:solidFill>
                  <a:srgbClr val="FFFFFF"/>
                </a:solidFill>
              </a14:hiddenFill>
            </a:ext>
          </a:extLst>
        </p:spPr>
      </p:pic>
      <p:sp>
        <p:nvSpPr>
          <p:cNvPr id="22" name="CuadroTexto 21">
            <a:extLst>
              <a:ext uri="{FF2B5EF4-FFF2-40B4-BE49-F238E27FC236}">
                <a16:creationId xmlns:a16="http://schemas.microsoft.com/office/drawing/2014/main" id="{BCC789A3-A3A5-AD98-0C00-952077643F00}"/>
              </a:ext>
            </a:extLst>
          </p:cNvPr>
          <p:cNvSpPr txBox="1"/>
          <p:nvPr/>
        </p:nvSpPr>
        <p:spPr>
          <a:xfrm>
            <a:off x="6099120" y="2402089"/>
            <a:ext cx="1950981" cy="1754326"/>
          </a:xfrm>
          <a:prstGeom prst="rect">
            <a:avLst/>
          </a:prstGeom>
          <a:noFill/>
        </p:spPr>
        <p:txBody>
          <a:bodyPr wrap="square">
            <a:spAutoFit/>
          </a:bodyPr>
          <a:lstStyle/>
          <a:p>
            <a:pPr algn="ctr">
              <a:buNone/>
            </a:pPr>
            <a:r>
              <a:rPr lang="en-US" sz="900" dirty="0"/>
              <a:t>------- </a:t>
            </a:r>
            <a:r>
              <a:rPr lang="en-US" sz="900" dirty="0" err="1"/>
              <a:t>Pameters</a:t>
            </a:r>
            <a:r>
              <a:rPr lang="en-US" sz="900" dirty="0"/>
              <a:t> -------</a:t>
            </a:r>
            <a:br>
              <a:rPr lang="en-US" sz="900" dirty="0"/>
            </a:br>
            <a:r>
              <a:rPr lang="en-US" sz="900" dirty="0"/>
              <a:t>MMI length 86.9819</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0.9882</a:t>
            </a:r>
            <a:br>
              <a:rPr lang="en-US" sz="900" dirty="0"/>
            </a:br>
            <a:r>
              <a:rPr lang="en-US" sz="900" dirty="0"/>
              <a:t>Total OUT power: 0.9778</a:t>
            </a:r>
            <a:br>
              <a:rPr lang="en-US" sz="900" dirty="0"/>
            </a:br>
            <a:r>
              <a:rPr lang="en-US" sz="900" dirty="0"/>
              <a:t>Excess loss [dB] =  0.0976</a:t>
            </a:r>
            <a:br>
              <a:rPr lang="en-US" sz="900" dirty="0"/>
            </a:br>
            <a:r>
              <a:rPr lang="en-US" sz="900" dirty="0"/>
              <a:t>------------------------</a:t>
            </a:r>
            <a:br>
              <a:rPr lang="en-US" sz="900" dirty="0"/>
            </a:br>
            <a:r>
              <a:rPr lang="en-US" sz="900" dirty="0"/>
              <a:t>Power over OUTs:  ['0.4888', '0.4890']</a:t>
            </a:r>
            <a:br>
              <a:rPr lang="en-US" sz="900" dirty="0"/>
            </a:br>
            <a:r>
              <a:rPr lang="en-US" sz="900" dirty="0"/>
              <a:t>Ratio over OUTs: ['0.4999', '0.5001']</a:t>
            </a:r>
          </a:p>
        </p:txBody>
      </p:sp>
      <p:sp>
        <p:nvSpPr>
          <p:cNvPr id="23" name="CuadroTexto 22">
            <a:extLst>
              <a:ext uri="{FF2B5EF4-FFF2-40B4-BE49-F238E27FC236}">
                <a16:creationId xmlns:a16="http://schemas.microsoft.com/office/drawing/2014/main" id="{93D7B3FA-A830-4241-3B92-95DA9EBB4619}"/>
              </a:ext>
            </a:extLst>
          </p:cNvPr>
          <p:cNvSpPr txBox="1"/>
          <p:nvPr/>
        </p:nvSpPr>
        <p:spPr>
          <a:xfrm>
            <a:off x="6162897" y="4319403"/>
            <a:ext cx="1837338" cy="246221"/>
          </a:xfrm>
          <a:prstGeom prst="rect">
            <a:avLst/>
          </a:prstGeom>
          <a:noFill/>
        </p:spPr>
        <p:txBody>
          <a:bodyPr wrap="square">
            <a:spAutoFit/>
          </a:bodyPr>
          <a:lstStyle/>
          <a:p>
            <a:pPr algn="ctr">
              <a:buNone/>
            </a:pPr>
            <a:r>
              <a:rPr lang="en-US" sz="1000" dirty="0"/>
              <a:t>Gap = 0.8</a:t>
            </a:r>
          </a:p>
        </p:txBody>
      </p:sp>
      <p:sp>
        <p:nvSpPr>
          <p:cNvPr id="24" name="Rectángulo 23">
            <a:extLst>
              <a:ext uri="{FF2B5EF4-FFF2-40B4-BE49-F238E27FC236}">
                <a16:creationId xmlns:a16="http://schemas.microsoft.com/office/drawing/2014/main" id="{161FDF41-FBF0-327D-EC75-C7A6E842C0EF}"/>
              </a:ext>
            </a:extLst>
          </p:cNvPr>
          <p:cNvSpPr/>
          <p:nvPr/>
        </p:nvSpPr>
        <p:spPr>
          <a:xfrm>
            <a:off x="8063278" y="1426774"/>
            <a:ext cx="1950981" cy="3154691"/>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
            <a:extLst>
              <a:ext uri="{FF2B5EF4-FFF2-40B4-BE49-F238E27FC236}">
                <a16:creationId xmlns:a16="http://schemas.microsoft.com/office/drawing/2014/main" id="{2CFD097F-E5F9-5105-509E-5CD7F0407004}"/>
              </a:ext>
            </a:extLst>
          </p:cNvPr>
          <p:cNvPicPr>
            <a:picLocks noChangeAspect="1" noChangeArrowheads="1"/>
          </p:cNvPicPr>
          <p:nvPr/>
        </p:nvPicPr>
        <p:blipFill>
          <a:blip r:embed="rId8"/>
          <a:srcRect/>
          <a:stretch/>
        </p:blipFill>
        <p:spPr bwMode="auto">
          <a:xfrm>
            <a:off x="8226646" y="1725483"/>
            <a:ext cx="1624243" cy="300681"/>
          </a:xfrm>
          <a:prstGeom prst="rect">
            <a:avLst/>
          </a:prstGeom>
          <a:noFill/>
          <a:extLst>
            <a:ext uri="{909E8E84-426E-40DD-AFC4-6F175D3DCCD1}">
              <a14:hiddenFill xmlns:a14="http://schemas.microsoft.com/office/drawing/2010/main">
                <a:solidFill>
                  <a:srgbClr val="FFFFFF"/>
                </a:solidFill>
              </a14:hiddenFill>
            </a:ext>
          </a:extLst>
        </p:spPr>
      </p:pic>
      <p:sp>
        <p:nvSpPr>
          <p:cNvPr id="26" name="CuadroTexto 25">
            <a:extLst>
              <a:ext uri="{FF2B5EF4-FFF2-40B4-BE49-F238E27FC236}">
                <a16:creationId xmlns:a16="http://schemas.microsoft.com/office/drawing/2014/main" id="{0DB823DE-B21E-A73A-D38B-2CD5CD4221B6}"/>
              </a:ext>
            </a:extLst>
          </p:cNvPr>
          <p:cNvSpPr txBox="1"/>
          <p:nvPr/>
        </p:nvSpPr>
        <p:spPr>
          <a:xfrm>
            <a:off x="8064015" y="2401955"/>
            <a:ext cx="1950981" cy="1754326"/>
          </a:xfrm>
          <a:prstGeom prst="rect">
            <a:avLst/>
          </a:prstGeom>
          <a:noFill/>
        </p:spPr>
        <p:txBody>
          <a:bodyPr wrap="square">
            <a:spAutoFit/>
          </a:bodyPr>
          <a:lstStyle/>
          <a:p>
            <a:pPr algn="ctr">
              <a:buNone/>
            </a:pPr>
            <a:r>
              <a:rPr lang="en-US" sz="900" dirty="0"/>
              <a:t>------- </a:t>
            </a:r>
            <a:r>
              <a:rPr lang="en-US" sz="900" dirty="0" err="1"/>
              <a:t>Pameters</a:t>
            </a:r>
            <a:r>
              <a:rPr lang="en-US" sz="900" dirty="0"/>
              <a:t> -------</a:t>
            </a:r>
            <a:br>
              <a:rPr lang="en-US" sz="900" dirty="0"/>
            </a:br>
            <a:r>
              <a:rPr lang="en-US" sz="900" dirty="0"/>
              <a:t>MMI length 159.4421</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0.9663</a:t>
            </a:r>
            <a:br>
              <a:rPr lang="en-US" sz="900" dirty="0"/>
            </a:br>
            <a:r>
              <a:rPr lang="en-US" sz="900" dirty="0"/>
              <a:t>Total OUT power: 0.9560</a:t>
            </a:r>
            <a:br>
              <a:rPr lang="en-US" sz="900" dirty="0"/>
            </a:br>
            <a:r>
              <a:rPr lang="en-US" sz="900" dirty="0"/>
              <a:t>Excess loss [dB] =  0.1955</a:t>
            </a:r>
            <a:br>
              <a:rPr lang="en-US" sz="900" dirty="0"/>
            </a:br>
            <a:r>
              <a:rPr lang="en-US" sz="900" dirty="0"/>
              <a:t>------------------------</a:t>
            </a:r>
            <a:br>
              <a:rPr lang="en-US" sz="900" dirty="0"/>
            </a:br>
            <a:r>
              <a:rPr lang="en-US" sz="900" dirty="0"/>
              <a:t>Power over OUTs:  ['0.4778', '0.4782']</a:t>
            </a:r>
            <a:br>
              <a:rPr lang="en-US" sz="900" dirty="0"/>
            </a:br>
            <a:r>
              <a:rPr lang="en-US" sz="900" dirty="0"/>
              <a:t>Ratio over OUTs: ['0.4998', '0.5002']</a:t>
            </a:r>
          </a:p>
        </p:txBody>
      </p:sp>
      <p:sp>
        <p:nvSpPr>
          <p:cNvPr id="27" name="CuadroTexto 26">
            <a:extLst>
              <a:ext uri="{FF2B5EF4-FFF2-40B4-BE49-F238E27FC236}">
                <a16:creationId xmlns:a16="http://schemas.microsoft.com/office/drawing/2014/main" id="{F9D0C682-7F6D-CFA4-421B-2F33E556A104}"/>
              </a:ext>
            </a:extLst>
          </p:cNvPr>
          <p:cNvSpPr txBox="1"/>
          <p:nvPr/>
        </p:nvSpPr>
        <p:spPr>
          <a:xfrm>
            <a:off x="8120098" y="4319269"/>
            <a:ext cx="1837338" cy="246221"/>
          </a:xfrm>
          <a:prstGeom prst="rect">
            <a:avLst/>
          </a:prstGeom>
          <a:noFill/>
        </p:spPr>
        <p:txBody>
          <a:bodyPr wrap="square">
            <a:spAutoFit/>
          </a:bodyPr>
          <a:lstStyle/>
          <a:p>
            <a:pPr algn="ctr">
              <a:buNone/>
            </a:pPr>
            <a:r>
              <a:rPr lang="en-US" sz="1000" dirty="0"/>
              <a:t>Gap = 1</a:t>
            </a:r>
          </a:p>
        </p:txBody>
      </p:sp>
      <p:sp>
        <p:nvSpPr>
          <p:cNvPr id="28" name="Rectángulo 27">
            <a:extLst>
              <a:ext uri="{FF2B5EF4-FFF2-40B4-BE49-F238E27FC236}">
                <a16:creationId xmlns:a16="http://schemas.microsoft.com/office/drawing/2014/main" id="{2A5973EC-23F9-E22D-E3B9-6EE556CB2158}"/>
              </a:ext>
            </a:extLst>
          </p:cNvPr>
          <p:cNvSpPr/>
          <p:nvPr/>
        </p:nvSpPr>
        <p:spPr>
          <a:xfrm>
            <a:off x="10020479" y="1426774"/>
            <a:ext cx="1950981" cy="315111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
            <a:extLst>
              <a:ext uri="{FF2B5EF4-FFF2-40B4-BE49-F238E27FC236}">
                <a16:creationId xmlns:a16="http://schemas.microsoft.com/office/drawing/2014/main" id="{53250557-7F3E-AA6C-6951-A7B69D21C507}"/>
              </a:ext>
            </a:extLst>
          </p:cNvPr>
          <p:cNvPicPr>
            <a:picLocks noChangeAspect="1" noChangeArrowheads="1"/>
          </p:cNvPicPr>
          <p:nvPr/>
        </p:nvPicPr>
        <p:blipFill>
          <a:blip r:embed="rId9"/>
          <a:srcRect/>
          <a:stretch/>
        </p:blipFill>
        <p:spPr bwMode="auto">
          <a:xfrm>
            <a:off x="10183847" y="1734554"/>
            <a:ext cx="1624243" cy="275390"/>
          </a:xfrm>
          <a:prstGeom prst="rect">
            <a:avLst/>
          </a:prstGeom>
          <a:noFill/>
          <a:extLst>
            <a:ext uri="{909E8E84-426E-40DD-AFC4-6F175D3DCCD1}">
              <a14:hiddenFill xmlns:a14="http://schemas.microsoft.com/office/drawing/2010/main">
                <a:solidFill>
                  <a:srgbClr val="FFFFFF"/>
                </a:solidFill>
              </a14:hiddenFill>
            </a:ext>
          </a:extLst>
        </p:spPr>
      </p:pic>
      <p:sp>
        <p:nvSpPr>
          <p:cNvPr id="30" name="CuadroTexto 29">
            <a:extLst>
              <a:ext uri="{FF2B5EF4-FFF2-40B4-BE49-F238E27FC236}">
                <a16:creationId xmlns:a16="http://schemas.microsoft.com/office/drawing/2014/main" id="{AF9633A7-64C7-3ADB-CA6F-B77AD2DD1474}"/>
              </a:ext>
            </a:extLst>
          </p:cNvPr>
          <p:cNvSpPr txBox="1"/>
          <p:nvPr/>
        </p:nvSpPr>
        <p:spPr>
          <a:xfrm>
            <a:off x="10032569" y="2398380"/>
            <a:ext cx="1930830" cy="1754326"/>
          </a:xfrm>
          <a:prstGeom prst="rect">
            <a:avLst/>
          </a:prstGeom>
          <a:noFill/>
        </p:spPr>
        <p:txBody>
          <a:bodyPr wrap="square">
            <a:spAutoFit/>
          </a:bodyPr>
          <a:lstStyle/>
          <a:p>
            <a:pPr algn="ctr">
              <a:buNone/>
            </a:pPr>
            <a:r>
              <a:rPr lang="en-US" sz="900" dirty="0"/>
              <a:t>------- </a:t>
            </a:r>
            <a:r>
              <a:rPr lang="en-US" sz="900" dirty="0" err="1"/>
              <a:t>Pameters</a:t>
            </a:r>
            <a:r>
              <a:rPr lang="en-US" sz="900" dirty="0"/>
              <a:t> -------</a:t>
            </a:r>
            <a:br>
              <a:rPr lang="en-US" sz="900" dirty="0"/>
            </a:br>
            <a:r>
              <a:rPr lang="en-US" sz="900" dirty="0"/>
              <a:t>MMI length 290.2147</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0.8916</a:t>
            </a:r>
            <a:br>
              <a:rPr lang="en-US" sz="900" dirty="0"/>
            </a:br>
            <a:r>
              <a:rPr lang="en-US" sz="900" dirty="0"/>
              <a:t>Total OUT power: 0.8818</a:t>
            </a:r>
            <a:br>
              <a:rPr lang="en-US" sz="900" dirty="0"/>
            </a:br>
            <a:r>
              <a:rPr lang="en-US" sz="900" dirty="0"/>
              <a:t>Excess loss [dB] =  0.5464</a:t>
            </a:r>
            <a:br>
              <a:rPr lang="en-US" sz="900" dirty="0"/>
            </a:br>
            <a:r>
              <a:rPr lang="en-US" sz="900" dirty="0"/>
              <a:t>------------------------</a:t>
            </a:r>
            <a:br>
              <a:rPr lang="en-US" sz="900" dirty="0"/>
            </a:br>
            <a:r>
              <a:rPr lang="en-US" sz="900" dirty="0"/>
              <a:t>Power over OUTs:  ['0.4407', '0.4410']</a:t>
            </a:r>
            <a:br>
              <a:rPr lang="en-US" sz="900" dirty="0"/>
            </a:br>
            <a:r>
              <a:rPr lang="en-US" sz="900" dirty="0"/>
              <a:t>Ratio over OUTs: ['0.4998', '0.5002']</a:t>
            </a:r>
          </a:p>
        </p:txBody>
      </p:sp>
      <p:sp>
        <p:nvSpPr>
          <p:cNvPr id="31" name="CuadroTexto 30">
            <a:extLst>
              <a:ext uri="{FF2B5EF4-FFF2-40B4-BE49-F238E27FC236}">
                <a16:creationId xmlns:a16="http://schemas.microsoft.com/office/drawing/2014/main" id="{D81769C6-1D0B-FB20-83FF-48665185920B}"/>
              </a:ext>
            </a:extLst>
          </p:cNvPr>
          <p:cNvSpPr txBox="1"/>
          <p:nvPr/>
        </p:nvSpPr>
        <p:spPr>
          <a:xfrm>
            <a:off x="10077299" y="4315694"/>
            <a:ext cx="1837338" cy="246221"/>
          </a:xfrm>
          <a:prstGeom prst="rect">
            <a:avLst/>
          </a:prstGeom>
          <a:noFill/>
        </p:spPr>
        <p:txBody>
          <a:bodyPr wrap="square">
            <a:spAutoFit/>
          </a:bodyPr>
          <a:lstStyle/>
          <a:p>
            <a:pPr algn="ctr">
              <a:buNone/>
            </a:pPr>
            <a:r>
              <a:rPr lang="en-US" sz="1000" dirty="0"/>
              <a:t>Gap = 1.2</a:t>
            </a:r>
          </a:p>
        </p:txBody>
      </p:sp>
    </p:spTree>
    <p:extLst>
      <p:ext uri="{BB962C8B-B14F-4D97-AF65-F5344CB8AC3E}">
        <p14:creationId xmlns:p14="http://schemas.microsoft.com/office/powerpoint/2010/main" val="15583268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Se ha realizado un barrido del gap entre 2.5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5.5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tanto para el acoplador con guías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como para el acoplador con guías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Para cada caso se ha calculado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y, a partir de la fórmula del coeficiente de acoplo k definida en el apartado LO.2, se ha evaluado el acoplo para una longitud de las guías de L = 10 </a:t>
            </a:r>
            <a:r>
              <a:rPr lang="es-ES" sz="1200" dirty="0" err="1">
                <a:latin typeface="Arial" panose="020B0604020202020204" pitchFamily="34" charset="0"/>
                <a:cs typeface="Arial" panose="020B0604020202020204" pitchFamily="34" charset="0"/>
              </a:rPr>
              <a:t>mm.</a:t>
            </a:r>
            <a:r>
              <a:rPr lang="es-ES" sz="1200" dirty="0">
                <a:latin typeface="Arial" panose="020B0604020202020204" pitchFamily="34" charset="0"/>
                <a:cs typeface="Arial" panose="020B0604020202020204" pitchFamily="34" charset="0"/>
              </a:rPr>
              <a:t> Se ha tomado como condición k &lt; 0.01, con el objetivo de determinar el gap mínimo necesario para que las guías no se acoplen.</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Esta condición se cumple aproximadamente a partir de 3.75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en las guías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y de 4.85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en las guías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La mayor separación necesaria en el caso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se debe a que el campo está menos confinado en el núcleo y se propaga más por la cubierta, aumentando la interacción entre guías y haciendo necesario un gap mayor para reducir el acoplo.</a:t>
            </a: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Imagen 17">
            <a:extLst>
              <a:ext uri="{FF2B5EF4-FFF2-40B4-BE49-F238E27FC236}">
                <a16:creationId xmlns:a16="http://schemas.microsoft.com/office/drawing/2014/main" id="{07D1C087-A8BC-4201-DDB9-503AB48EA074}"/>
              </a:ext>
            </a:extLst>
          </p:cNvPr>
          <p:cNvPicPr>
            <a:picLocks noChangeAspect="1"/>
          </p:cNvPicPr>
          <p:nvPr/>
        </p:nvPicPr>
        <p:blipFill>
          <a:blip r:embed="rId4"/>
          <a:stretch>
            <a:fillRect/>
          </a:stretch>
        </p:blipFill>
        <p:spPr>
          <a:xfrm>
            <a:off x="7023536" y="1276455"/>
            <a:ext cx="4144351" cy="3240000"/>
          </a:xfrm>
          <a:prstGeom prst="rect">
            <a:avLst/>
          </a:prstGeom>
        </p:spPr>
      </p:pic>
      <p:pic>
        <p:nvPicPr>
          <p:cNvPr id="21" name="Imagen 20">
            <a:extLst>
              <a:ext uri="{FF2B5EF4-FFF2-40B4-BE49-F238E27FC236}">
                <a16:creationId xmlns:a16="http://schemas.microsoft.com/office/drawing/2014/main" id="{A5156956-A56E-B12F-7242-0DF061246F79}"/>
              </a:ext>
            </a:extLst>
          </p:cNvPr>
          <p:cNvPicPr>
            <a:picLocks noChangeAspect="1"/>
          </p:cNvPicPr>
          <p:nvPr/>
        </p:nvPicPr>
        <p:blipFill>
          <a:blip r:embed="rId5"/>
          <a:srcRect/>
          <a:stretch/>
        </p:blipFill>
        <p:spPr>
          <a:xfrm>
            <a:off x="1333951" y="1250700"/>
            <a:ext cx="4037538" cy="3239999"/>
          </a:xfrm>
          <a:prstGeom prst="rect">
            <a:avLst/>
          </a:prstGeom>
        </p:spPr>
      </p:pic>
      <p:sp>
        <p:nvSpPr>
          <p:cNvPr id="6" name="CuadroTexto 5">
            <a:extLst>
              <a:ext uri="{FF2B5EF4-FFF2-40B4-BE49-F238E27FC236}">
                <a16:creationId xmlns:a16="http://schemas.microsoft.com/office/drawing/2014/main" id="{FE46D6C5-F8CE-ACA6-CF36-3BEACBB70F06}"/>
              </a:ext>
            </a:extLst>
          </p:cNvPr>
          <p:cNvSpPr txBox="1"/>
          <p:nvPr/>
        </p:nvSpPr>
        <p:spPr>
          <a:xfrm>
            <a:off x="6331685" y="4204378"/>
            <a:ext cx="2269787" cy="369332"/>
          </a:xfrm>
          <a:prstGeom prst="rect">
            <a:avLst/>
          </a:prstGeom>
          <a:noFill/>
        </p:spPr>
        <p:txBody>
          <a:bodyPr wrap="square">
            <a:spAutoFit/>
          </a:bodyPr>
          <a:lstStyle/>
          <a:p>
            <a:r>
              <a:rPr lang="en-US"/>
              <a:t>slab = 150nm</a:t>
            </a:r>
            <a:endParaRPr lang="es-ES"/>
          </a:p>
        </p:txBody>
      </p:sp>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6F767-E9F0-530E-3895-22151CD7B13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A40AABE-3E4A-A316-4F41-7D15EEBF0690}"/>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726F5440-26BB-2FDA-E850-BD090494937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9B36F22-ADB6-E150-666E-937AB66FBFB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83B9990E-9223-7D15-4DA7-F8B4E993D30F}"/>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3C5F434F-62FD-443B-D309-5FF3064709FD}"/>
              </a:ext>
            </a:extLst>
          </p:cNvPr>
          <p:cNvSpPr txBox="1"/>
          <p:nvPr/>
        </p:nvSpPr>
        <p:spPr>
          <a:xfrm>
            <a:off x="609441" y="3706053"/>
            <a:ext cx="10896759"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Se ha simulado un MMI formado por una guía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de Si3N4, con una anchura de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una altura de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recubierta por SiO2, a una longitud de onda de 1550 nm. En las imágenes se representan, respectivamente, el modo TE0, TE1 y TE7 simulados para una longitud de onda de 1550 nm.</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A medida que aumenta el orden del modo, aumenta el número de máximos y mínimos del campo. En este caso, la longitud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se obtiene a partir de la </a:t>
            </a:r>
          </a:p>
          <a:p>
            <a:pPr algn="just"/>
            <a:r>
              <a:rPr lang="es-ES" sz="1200" dirty="0">
                <a:latin typeface="Arial" panose="020B0604020202020204" pitchFamily="34" charset="0"/>
                <a:cs typeface="Arial" panose="020B0604020202020204" pitchFamily="34" charset="0"/>
              </a:rPr>
              <a:t>diferencia entre los índices efectivos de los dos primeros modos, obteniéndose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 219.41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Este parámetro será útil para definir la longitud del MMI.</a:t>
            </a:r>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4CF77F2F-B6F2-1FD8-DB67-F148802E8AA7}"/>
              </a:ext>
            </a:extLst>
          </p:cNvPr>
          <p:cNvPicPr>
            <a:picLocks noChangeAspect="1"/>
          </p:cNvPicPr>
          <p:nvPr/>
        </p:nvPicPr>
        <p:blipFill>
          <a:blip r:embed="rId4"/>
          <a:stretch>
            <a:fillRect/>
          </a:stretch>
        </p:blipFill>
        <p:spPr>
          <a:xfrm>
            <a:off x="660408" y="1002938"/>
            <a:ext cx="3530592" cy="2520000"/>
          </a:xfrm>
          <a:prstGeom prst="rect">
            <a:avLst/>
          </a:prstGeom>
        </p:spPr>
      </p:pic>
      <p:pic>
        <p:nvPicPr>
          <p:cNvPr id="8" name="Imagen 7">
            <a:extLst>
              <a:ext uri="{FF2B5EF4-FFF2-40B4-BE49-F238E27FC236}">
                <a16:creationId xmlns:a16="http://schemas.microsoft.com/office/drawing/2014/main" id="{34DD4B72-7824-54DA-A27F-0A267485C5B5}"/>
              </a:ext>
            </a:extLst>
          </p:cNvPr>
          <p:cNvPicPr>
            <a:picLocks noChangeAspect="1"/>
          </p:cNvPicPr>
          <p:nvPr/>
        </p:nvPicPr>
        <p:blipFill>
          <a:blip r:embed="rId5"/>
          <a:stretch>
            <a:fillRect/>
          </a:stretch>
        </p:blipFill>
        <p:spPr>
          <a:xfrm>
            <a:off x="4191000" y="977550"/>
            <a:ext cx="3601851" cy="2520000"/>
          </a:xfrm>
          <a:prstGeom prst="rect">
            <a:avLst/>
          </a:prstGeom>
        </p:spPr>
      </p:pic>
      <p:pic>
        <p:nvPicPr>
          <p:cNvPr id="10" name="Imagen 9">
            <a:extLst>
              <a:ext uri="{FF2B5EF4-FFF2-40B4-BE49-F238E27FC236}">
                <a16:creationId xmlns:a16="http://schemas.microsoft.com/office/drawing/2014/main" id="{60267294-3B51-DD7E-6E9E-341D326F7391}"/>
              </a:ext>
            </a:extLst>
          </p:cNvPr>
          <p:cNvPicPr>
            <a:picLocks noChangeAspect="1"/>
          </p:cNvPicPr>
          <p:nvPr/>
        </p:nvPicPr>
        <p:blipFill>
          <a:blip r:embed="rId6"/>
          <a:stretch>
            <a:fillRect/>
          </a:stretch>
        </p:blipFill>
        <p:spPr>
          <a:xfrm>
            <a:off x="7792851" y="1002938"/>
            <a:ext cx="3601851" cy="2520000"/>
          </a:xfrm>
          <a:prstGeom prst="rect">
            <a:avLst/>
          </a:prstGeom>
        </p:spPr>
      </p:pic>
      <p:sp>
        <p:nvSpPr>
          <p:cNvPr id="11" name="Rectángulo 10">
            <a:extLst>
              <a:ext uri="{FF2B5EF4-FFF2-40B4-BE49-F238E27FC236}">
                <a16:creationId xmlns:a16="http://schemas.microsoft.com/office/drawing/2014/main" id="{CD760815-3B13-0221-A8CC-A4945013CAFD}"/>
              </a:ext>
            </a:extLst>
          </p:cNvPr>
          <p:cNvSpPr/>
          <p:nvPr/>
        </p:nvSpPr>
        <p:spPr>
          <a:xfrm>
            <a:off x="609441" y="979159"/>
            <a:ext cx="10896759" cy="2602241"/>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224816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r>
              <a:rPr lang="es-ES" sz="1200" dirty="0">
                <a:latin typeface="Arial" panose="020B0604020202020204" pitchFamily="34" charset="0"/>
                <a:cs typeface="Arial" panose="020B0604020202020204" pitchFamily="34" charset="0"/>
              </a:rPr>
              <a:t>Para un MMI </a:t>
            </a:r>
            <a:r>
              <a:rPr lang="es-ES" sz="1200" dirty="0" err="1">
                <a:latin typeface="Arial" panose="020B0604020202020204" pitchFamily="34" charset="0"/>
                <a:cs typeface="Arial" panose="020B0604020202020204" pitchFamily="34" charset="0"/>
              </a:rPr>
              <a:t>paired</a:t>
            </a:r>
            <a:r>
              <a:rPr lang="es-ES" sz="1200" dirty="0">
                <a:latin typeface="Arial" panose="020B0604020202020204" pitchFamily="34" charset="0"/>
                <a:cs typeface="Arial" panose="020B0604020202020204" pitchFamily="34" charset="0"/>
              </a:rPr>
              <a:t> 2x2, las guías de entrada y salida se colocan en las posiciones ±W/6, siendo la longitud del dispositivo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/2. En este caso, con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 69.0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la longitud del MMI es 34.5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Con esta configuración inicial, sin optimización, se obtiene una </a:t>
            </a:r>
            <a:r>
              <a:rPr lang="es-ES" sz="1200" dirty="0" err="1">
                <a:latin typeface="Arial" panose="020B0604020202020204" pitchFamily="34" charset="0"/>
                <a:cs typeface="Arial" panose="020B0604020202020204" pitchFamily="34" charset="0"/>
              </a:rPr>
              <a:t>excess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de 0.4217 dB y un ratio de potencia de 0.5152 / 0.4848.</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En comparación con el acoplador direccional, la diferencia principal es que el MMI no depende del gap entre dos guías acopladas. En el acoplador direccional, el gap condiciona la longitud necesaria: cuanto mayor es el gap, más largo debe ser el dispositivo para obtener un ratio 50/50. Además, en el acoplador direccional se ha obtenido un ratio más preciso y, para algunos valores de gap, una mejor </a:t>
            </a:r>
            <a:r>
              <a:rPr lang="es-ES" sz="1200" dirty="0" err="1">
                <a:latin typeface="Arial" panose="020B0604020202020204" pitchFamily="34" charset="0"/>
                <a:cs typeface="Arial" panose="020B0604020202020204" pitchFamily="34" charset="0"/>
              </a:rPr>
              <a:t>excess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mientras que el MMI necesitaría optimización para conseguirlo. Aun así, el MMI tiene la ventaja de no ser dependiente de un gap, lo que puede hacerlo más robusto frente a variaciones de fabricación.</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194991"/>
            <a:ext cx="11199971" cy="348854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1610C83D-C3E1-6213-1F7C-DAFC9874D263}"/>
              </a:ext>
            </a:extLst>
          </p:cNvPr>
          <p:cNvPicPr>
            <a:picLocks noChangeAspect="1"/>
          </p:cNvPicPr>
          <p:nvPr/>
        </p:nvPicPr>
        <p:blipFill>
          <a:blip r:embed="rId4"/>
          <a:stretch>
            <a:fillRect/>
          </a:stretch>
        </p:blipFill>
        <p:spPr>
          <a:xfrm>
            <a:off x="1336278" y="1866520"/>
            <a:ext cx="5381625" cy="2219325"/>
          </a:xfrm>
          <a:prstGeom prst="rect">
            <a:avLst/>
          </a:prstGeom>
        </p:spPr>
      </p:pic>
      <p:sp>
        <p:nvSpPr>
          <p:cNvPr id="11" name="CuadroTexto 10">
            <a:extLst>
              <a:ext uri="{FF2B5EF4-FFF2-40B4-BE49-F238E27FC236}">
                <a16:creationId xmlns:a16="http://schemas.microsoft.com/office/drawing/2014/main" id="{E90A5E58-031B-AD2C-0105-2B2589011F37}"/>
              </a:ext>
            </a:extLst>
          </p:cNvPr>
          <p:cNvSpPr txBox="1"/>
          <p:nvPr/>
        </p:nvSpPr>
        <p:spPr>
          <a:xfrm>
            <a:off x="7444740" y="1268023"/>
            <a:ext cx="3733800" cy="3416320"/>
          </a:xfrm>
          <a:prstGeom prst="rect">
            <a:avLst/>
          </a:prstGeom>
          <a:noFill/>
        </p:spPr>
        <p:txBody>
          <a:bodyPr wrap="square">
            <a:spAutoFit/>
          </a:bodyPr>
          <a:lstStyle/>
          <a:p>
            <a:pPr algn="ctr"/>
            <a:r>
              <a:rPr lang="en-US" dirty="0"/>
              <a:t>------- </a:t>
            </a:r>
            <a:r>
              <a:rPr lang="en-US" dirty="0" err="1"/>
              <a:t>Pameters</a:t>
            </a:r>
            <a:r>
              <a:rPr lang="en-US" dirty="0"/>
              <a:t> -------</a:t>
            </a:r>
          </a:p>
          <a:p>
            <a:pPr algn="ctr"/>
            <a:r>
              <a:rPr lang="en-US" dirty="0"/>
              <a:t>MMI length 34.5180</a:t>
            </a:r>
          </a:p>
          <a:p>
            <a:pPr algn="ctr"/>
            <a:r>
              <a:rPr lang="en-US" dirty="0"/>
              <a:t>MMI length increment 0.0000</a:t>
            </a:r>
          </a:p>
          <a:p>
            <a:pPr algn="ctr"/>
            <a:r>
              <a:rPr lang="en-US" dirty="0"/>
              <a:t>IO </a:t>
            </a:r>
            <a:r>
              <a:rPr lang="en-US" dirty="0" err="1"/>
              <a:t>wg</a:t>
            </a:r>
            <a:r>
              <a:rPr lang="en-US" dirty="0"/>
              <a:t> width 1.0000</a:t>
            </a:r>
          </a:p>
          <a:p>
            <a:pPr algn="ctr"/>
            <a:r>
              <a:rPr lang="en-US" dirty="0"/>
              <a:t>IO </a:t>
            </a:r>
            <a:r>
              <a:rPr lang="en-US" dirty="0" err="1"/>
              <a:t>wg</a:t>
            </a:r>
            <a:r>
              <a:rPr lang="en-US" dirty="0"/>
              <a:t> width increment 0.0000</a:t>
            </a:r>
          </a:p>
          <a:p>
            <a:pPr algn="ctr"/>
            <a:r>
              <a:rPr lang="en-US" dirty="0"/>
              <a:t>------------------------</a:t>
            </a:r>
          </a:p>
          <a:p>
            <a:pPr algn="ctr"/>
            <a:r>
              <a:rPr lang="en-US" dirty="0"/>
              <a:t>Total power IN coupled 0.9604</a:t>
            </a:r>
          </a:p>
          <a:p>
            <a:pPr algn="ctr"/>
            <a:r>
              <a:rPr lang="en-US" dirty="0"/>
              <a:t>Total OUT power: 0.9075</a:t>
            </a:r>
          </a:p>
          <a:p>
            <a:pPr algn="ctr"/>
            <a:r>
              <a:rPr lang="en-US" dirty="0"/>
              <a:t>Excess loss [dB] =  0.4217</a:t>
            </a:r>
          </a:p>
          <a:p>
            <a:pPr algn="ctr"/>
            <a:r>
              <a:rPr lang="en-US" dirty="0"/>
              <a:t>------------------------</a:t>
            </a:r>
          </a:p>
          <a:p>
            <a:pPr algn="ctr"/>
            <a:r>
              <a:rPr lang="en-US" dirty="0"/>
              <a:t>Power over OUTs:  ['0.4675', '0.4399']</a:t>
            </a:r>
          </a:p>
          <a:p>
            <a:pPr algn="ctr"/>
            <a:r>
              <a:rPr lang="en-US" dirty="0"/>
              <a:t>Ratio over OUTs: ['0.5152', '0.4848']</a:t>
            </a:r>
            <a:endParaRPr lang="es-ES" dirty="0"/>
          </a:p>
        </p:txBody>
      </p:sp>
    </p:spTree>
    <p:extLst>
      <p:ext uri="{BB962C8B-B14F-4D97-AF65-F5344CB8AC3E}">
        <p14:creationId xmlns:p14="http://schemas.microsoft.com/office/powerpoint/2010/main" val="28156794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646331"/>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Como se ha comentado, el MMI necesita optimización para mejorar tanto el ratio como las pérdidas. Para ello, se ha modificado ligeramente la posición de las guías (usando </a:t>
            </a:r>
            <a:r>
              <a:rPr lang="es-ES" sz="1200" dirty="0" err="1">
                <a:latin typeface="Arial" panose="020B0604020202020204" pitchFamily="34" charset="0"/>
                <a:cs typeface="Arial" panose="020B0604020202020204" pitchFamily="34" charset="0"/>
              </a:rPr>
              <a:t>dy</a:t>
            </a:r>
            <a:r>
              <a:rPr lang="es-ES" sz="1200" dirty="0">
                <a:latin typeface="Arial" panose="020B0604020202020204" pitchFamily="34" charset="0"/>
                <a:cs typeface="Arial" panose="020B0604020202020204" pitchFamily="34" charset="0"/>
              </a:rPr>
              <a:t> = 0.05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la longitud del MMI (</a:t>
            </a:r>
            <a:r>
              <a:rPr lang="es-ES" sz="1200" dirty="0" err="1">
                <a:latin typeface="Arial" panose="020B0604020202020204" pitchFamily="34" charset="0"/>
                <a:cs typeface="Arial" panose="020B0604020202020204" pitchFamily="34" charset="0"/>
              </a:rPr>
              <a:t>dL_MMI</a:t>
            </a:r>
            <a:r>
              <a:rPr lang="es-ES" sz="1200" dirty="0">
                <a:latin typeface="Arial" panose="020B0604020202020204" pitchFamily="34" charset="0"/>
                <a:cs typeface="Arial" panose="020B0604020202020204" pitchFamily="34" charset="0"/>
              </a:rPr>
              <a:t> =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Con esta configuración se ha obtenido una </a:t>
            </a:r>
            <a:r>
              <a:rPr lang="es-ES" sz="1200" dirty="0" err="1">
                <a:latin typeface="Arial" panose="020B0604020202020204" pitchFamily="34" charset="0"/>
                <a:cs typeface="Arial" panose="020B0604020202020204" pitchFamily="34" charset="0"/>
              </a:rPr>
              <a:t>excess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menor, de 0.3800 dB, y un ratio más equilibrado, 0.5097 / 0.4903.</a:t>
            </a:r>
            <a:endParaRPr lang="en-US" sz="1200" dirty="0">
              <a:latin typeface="Arial" panose="020B0604020202020204" pitchFamily="34" charset="0"/>
              <a:cs typeface="Arial" panose="020B0604020202020204" pitchFamily="34" charset="0"/>
            </a:endParaRPr>
          </a:p>
        </p:txBody>
      </p:sp>
      <p:sp>
        <p:nvSpPr>
          <p:cNvPr id="6" name="Rectángulo 5">
            <a:extLst>
              <a:ext uri="{FF2B5EF4-FFF2-40B4-BE49-F238E27FC236}">
                <a16:creationId xmlns:a16="http://schemas.microsoft.com/office/drawing/2014/main" id="{75DBAEDF-A00E-EE33-E53B-28095C7E1DBE}"/>
              </a:ext>
            </a:extLst>
          </p:cNvPr>
          <p:cNvSpPr/>
          <p:nvPr/>
        </p:nvSpPr>
        <p:spPr>
          <a:xfrm>
            <a:off x="609441" y="1194991"/>
            <a:ext cx="11199971" cy="348854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3500BBC6-B67A-0F4D-4C0B-0FF71BE84453}"/>
              </a:ext>
            </a:extLst>
          </p:cNvPr>
          <p:cNvPicPr>
            <a:picLocks noChangeAspect="1"/>
          </p:cNvPicPr>
          <p:nvPr/>
        </p:nvPicPr>
        <p:blipFill>
          <a:blip r:embed="rId4"/>
          <a:srcRect/>
          <a:stretch/>
        </p:blipFill>
        <p:spPr>
          <a:xfrm>
            <a:off x="1347777" y="1866520"/>
            <a:ext cx="5358626" cy="2219325"/>
          </a:xfrm>
          <a:prstGeom prst="rect">
            <a:avLst/>
          </a:prstGeom>
        </p:spPr>
      </p:pic>
      <p:sp>
        <p:nvSpPr>
          <p:cNvPr id="10" name="CuadroTexto 9">
            <a:extLst>
              <a:ext uri="{FF2B5EF4-FFF2-40B4-BE49-F238E27FC236}">
                <a16:creationId xmlns:a16="http://schemas.microsoft.com/office/drawing/2014/main" id="{A466B007-7C87-BD42-9B76-D481B78C3075}"/>
              </a:ext>
            </a:extLst>
          </p:cNvPr>
          <p:cNvSpPr txBox="1"/>
          <p:nvPr/>
        </p:nvSpPr>
        <p:spPr>
          <a:xfrm>
            <a:off x="7444740" y="1268023"/>
            <a:ext cx="3733800" cy="3416320"/>
          </a:xfrm>
          <a:prstGeom prst="rect">
            <a:avLst/>
          </a:prstGeom>
          <a:noFill/>
        </p:spPr>
        <p:txBody>
          <a:bodyPr wrap="square">
            <a:spAutoFit/>
          </a:bodyPr>
          <a:lstStyle/>
          <a:p>
            <a:pPr algn="ctr"/>
            <a:r>
              <a:rPr lang="en-US" dirty="0"/>
              <a:t>------- </a:t>
            </a:r>
            <a:r>
              <a:rPr lang="en-US" dirty="0" err="1"/>
              <a:t>Pameters</a:t>
            </a:r>
            <a:r>
              <a:rPr lang="en-US" dirty="0"/>
              <a:t> -------</a:t>
            </a:r>
          </a:p>
          <a:p>
            <a:pPr algn="ctr"/>
            <a:r>
              <a:rPr lang="en-US" dirty="0"/>
              <a:t>MMI length 34.5180</a:t>
            </a:r>
          </a:p>
          <a:p>
            <a:pPr algn="ctr"/>
            <a:r>
              <a:rPr lang="en-US" dirty="0"/>
              <a:t>MMI length increment -0.3000</a:t>
            </a:r>
          </a:p>
          <a:p>
            <a:pPr algn="ctr"/>
            <a:r>
              <a:rPr lang="en-US" dirty="0"/>
              <a:t>IO </a:t>
            </a:r>
            <a:r>
              <a:rPr lang="en-US" dirty="0" err="1"/>
              <a:t>wg</a:t>
            </a:r>
            <a:r>
              <a:rPr lang="en-US" dirty="0"/>
              <a:t> width 1.0000</a:t>
            </a:r>
          </a:p>
          <a:p>
            <a:pPr algn="ctr"/>
            <a:r>
              <a:rPr lang="en-US" dirty="0"/>
              <a:t>IO </a:t>
            </a:r>
            <a:r>
              <a:rPr lang="en-US" dirty="0" err="1"/>
              <a:t>wg</a:t>
            </a:r>
            <a:r>
              <a:rPr lang="en-US" dirty="0"/>
              <a:t> width increment 0.0000</a:t>
            </a:r>
          </a:p>
          <a:p>
            <a:pPr algn="ctr"/>
            <a:r>
              <a:rPr lang="en-US" dirty="0"/>
              <a:t>------------------------</a:t>
            </a:r>
          </a:p>
          <a:p>
            <a:pPr algn="ctr"/>
            <a:r>
              <a:rPr lang="en-US" dirty="0"/>
              <a:t>Total power IN coupled 0.9571</a:t>
            </a:r>
          </a:p>
          <a:p>
            <a:pPr algn="ctr"/>
            <a:r>
              <a:rPr lang="en-US" dirty="0"/>
              <a:t>Total OUT power: 0.9162</a:t>
            </a:r>
          </a:p>
          <a:p>
            <a:pPr algn="ctr"/>
            <a:r>
              <a:rPr lang="en-US" dirty="0"/>
              <a:t>Excess loss [dB] =  0.3800</a:t>
            </a:r>
          </a:p>
          <a:p>
            <a:pPr algn="ctr"/>
            <a:r>
              <a:rPr lang="en-US" dirty="0"/>
              <a:t>------------------------</a:t>
            </a:r>
          </a:p>
          <a:p>
            <a:pPr algn="ctr"/>
            <a:r>
              <a:rPr lang="en-US" dirty="0"/>
              <a:t>Power over OUTs:  ['0.4670', '0.4492']</a:t>
            </a:r>
          </a:p>
          <a:p>
            <a:pPr algn="ctr"/>
            <a:r>
              <a:rPr lang="en-US" dirty="0"/>
              <a:t>Ratio over OUTs: ['0.5097', '0.4903']</a:t>
            </a:r>
            <a:endParaRPr lang="es-ES" dirty="0"/>
          </a:p>
        </p:txBody>
      </p:sp>
    </p:spTree>
    <p:extLst>
      <p:ext uri="{BB962C8B-B14F-4D97-AF65-F5344CB8AC3E}">
        <p14:creationId xmlns:p14="http://schemas.microsoft.com/office/powerpoint/2010/main" val="26852157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830997"/>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Ahora, se ha propuesto sobre la optimización anterior conseguir una </a:t>
            </a:r>
            <a:r>
              <a:rPr lang="es-ES" sz="1200" dirty="0" err="1">
                <a:latin typeface="Arial" panose="020B0604020202020204" pitchFamily="34" charset="0"/>
                <a:cs typeface="Arial" panose="020B0604020202020204" pitchFamily="34" charset="0"/>
              </a:rPr>
              <a:t>excess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inferior a 0.1 dB. Para ello, se mantiene </a:t>
            </a:r>
            <a:r>
              <a:rPr lang="es-ES" sz="1200" dirty="0" err="1">
                <a:latin typeface="Arial" panose="020B0604020202020204" pitchFamily="34" charset="0"/>
                <a:cs typeface="Arial" panose="020B0604020202020204" pitchFamily="34" charset="0"/>
              </a:rPr>
              <a:t>dy</a:t>
            </a:r>
            <a:r>
              <a:rPr lang="es-ES" sz="1200" dirty="0">
                <a:latin typeface="Arial" panose="020B0604020202020204" pitchFamily="34" charset="0"/>
                <a:cs typeface="Arial" panose="020B0604020202020204" pitchFamily="34" charset="0"/>
              </a:rPr>
              <a:t> = 0.05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dL_MMI</a:t>
            </a:r>
            <a:r>
              <a:rPr lang="es-ES" sz="1200" dirty="0">
                <a:latin typeface="Arial" panose="020B0604020202020204" pitchFamily="34" charset="0"/>
                <a:cs typeface="Arial" panose="020B0604020202020204" pitchFamily="34" charset="0"/>
              </a:rPr>
              <a:t> =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se modifica la anchura de las guías de entrada y salida con </a:t>
            </a:r>
            <a:r>
              <a:rPr lang="es-ES" sz="1200" dirty="0" err="1">
                <a:latin typeface="Arial" panose="020B0604020202020204" pitchFamily="34" charset="0"/>
                <a:cs typeface="Arial" panose="020B0604020202020204" pitchFamily="34" charset="0"/>
              </a:rPr>
              <a:t>m.wg_width_dw</a:t>
            </a:r>
            <a:r>
              <a:rPr lang="es-ES" sz="1200" dirty="0">
                <a:latin typeface="Arial" panose="020B0604020202020204" pitchFamily="34" charset="0"/>
                <a:cs typeface="Arial" panose="020B0604020202020204" pitchFamily="34" charset="0"/>
              </a:rPr>
              <a:t> = 1. Con esta nueva configuración se obtiene una </a:t>
            </a:r>
            <a:r>
              <a:rPr lang="es-ES" sz="1200" dirty="0" err="1">
                <a:latin typeface="Arial" panose="020B0604020202020204" pitchFamily="34" charset="0"/>
                <a:cs typeface="Arial" panose="020B0604020202020204" pitchFamily="34" charset="0"/>
              </a:rPr>
              <a:t>excess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de 0.0143 dB, muy por debajo del valor requerido, y un ratio de potencia de 0.5087 / 0.4913. Por tanto, con esta configuración se ha optimizado el MMI reduciendo las pérdidas y manteniendo un buen ratio.</a:t>
            </a:r>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3C67956-2B54-82AC-561E-4F846B7F9908}"/>
              </a:ext>
            </a:extLst>
          </p:cNvPr>
          <p:cNvSpPr/>
          <p:nvPr/>
        </p:nvSpPr>
        <p:spPr>
          <a:xfrm>
            <a:off x="609441" y="1194991"/>
            <a:ext cx="11199971" cy="348854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CDDAFF40-E06B-4130-598B-731DF27280EE}"/>
              </a:ext>
            </a:extLst>
          </p:cNvPr>
          <p:cNvPicPr>
            <a:picLocks noChangeAspect="1"/>
          </p:cNvPicPr>
          <p:nvPr/>
        </p:nvPicPr>
        <p:blipFill>
          <a:blip r:embed="rId4"/>
          <a:srcRect/>
          <a:stretch/>
        </p:blipFill>
        <p:spPr>
          <a:xfrm>
            <a:off x="1347777" y="1866520"/>
            <a:ext cx="5358626" cy="2219324"/>
          </a:xfrm>
          <a:prstGeom prst="rect">
            <a:avLst/>
          </a:prstGeom>
        </p:spPr>
      </p:pic>
      <p:sp>
        <p:nvSpPr>
          <p:cNvPr id="6" name="CuadroTexto 5">
            <a:extLst>
              <a:ext uri="{FF2B5EF4-FFF2-40B4-BE49-F238E27FC236}">
                <a16:creationId xmlns:a16="http://schemas.microsoft.com/office/drawing/2014/main" id="{93BC4EB2-C792-CA7A-6E79-41ACCDBA33AE}"/>
              </a:ext>
            </a:extLst>
          </p:cNvPr>
          <p:cNvSpPr txBox="1"/>
          <p:nvPr/>
        </p:nvSpPr>
        <p:spPr>
          <a:xfrm>
            <a:off x="7444740" y="1268023"/>
            <a:ext cx="3733800" cy="3416320"/>
          </a:xfrm>
          <a:prstGeom prst="rect">
            <a:avLst/>
          </a:prstGeom>
          <a:noFill/>
        </p:spPr>
        <p:txBody>
          <a:bodyPr wrap="square">
            <a:spAutoFit/>
          </a:bodyPr>
          <a:lstStyle/>
          <a:p>
            <a:pPr algn="ctr"/>
            <a:r>
              <a:rPr lang="en-US" dirty="0"/>
              <a:t>------- </a:t>
            </a:r>
            <a:r>
              <a:rPr lang="en-US" dirty="0" err="1"/>
              <a:t>Pameters</a:t>
            </a:r>
            <a:r>
              <a:rPr lang="en-US" dirty="0"/>
              <a:t> -------</a:t>
            </a:r>
          </a:p>
          <a:p>
            <a:pPr algn="ctr"/>
            <a:r>
              <a:rPr lang="en-US" dirty="0"/>
              <a:t>MMI length 34.5180</a:t>
            </a:r>
          </a:p>
          <a:p>
            <a:pPr algn="ctr"/>
            <a:r>
              <a:rPr lang="en-US" dirty="0"/>
              <a:t>MMI length increment -0.3000</a:t>
            </a:r>
          </a:p>
          <a:p>
            <a:pPr algn="ctr"/>
            <a:r>
              <a:rPr lang="en-US" dirty="0"/>
              <a:t>IO </a:t>
            </a:r>
            <a:r>
              <a:rPr lang="en-US" dirty="0" err="1"/>
              <a:t>wg</a:t>
            </a:r>
            <a:r>
              <a:rPr lang="en-US" dirty="0"/>
              <a:t> width 1.0000</a:t>
            </a:r>
          </a:p>
          <a:p>
            <a:pPr algn="ctr"/>
            <a:r>
              <a:rPr lang="en-US" dirty="0"/>
              <a:t>IO </a:t>
            </a:r>
            <a:r>
              <a:rPr lang="en-US" dirty="0" err="1"/>
              <a:t>wg</a:t>
            </a:r>
            <a:r>
              <a:rPr lang="en-US" dirty="0"/>
              <a:t> width increment 1.0000</a:t>
            </a:r>
          </a:p>
          <a:p>
            <a:pPr algn="ctr"/>
            <a:r>
              <a:rPr lang="en-US" dirty="0"/>
              <a:t>------------------------</a:t>
            </a:r>
          </a:p>
          <a:p>
            <a:pPr algn="ctr"/>
            <a:r>
              <a:rPr lang="en-US" dirty="0"/>
              <a:t>Total power IN coupled 0.9984</a:t>
            </a:r>
          </a:p>
          <a:p>
            <a:pPr algn="ctr"/>
            <a:r>
              <a:rPr lang="en-US" dirty="0"/>
              <a:t>Total OUT power: 0.9967</a:t>
            </a:r>
          </a:p>
          <a:p>
            <a:pPr algn="ctr"/>
            <a:r>
              <a:rPr lang="en-US" dirty="0"/>
              <a:t>Excess loss [dB] =  0.0143</a:t>
            </a:r>
          </a:p>
          <a:p>
            <a:pPr algn="ctr"/>
            <a:r>
              <a:rPr lang="en-US" dirty="0"/>
              <a:t>------------------------</a:t>
            </a:r>
          </a:p>
          <a:p>
            <a:pPr algn="ctr"/>
            <a:r>
              <a:rPr lang="en-US" dirty="0"/>
              <a:t>Power over OUTs:  ['0.5070', '0.4897']</a:t>
            </a:r>
          </a:p>
          <a:p>
            <a:pPr algn="ctr"/>
            <a:r>
              <a:rPr lang="en-US" dirty="0"/>
              <a:t>Ratio over OUTs: ['0.5087', '0.4913']</a:t>
            </a:r>
            <a:endParaRPr lang="es-ES" dirty="0"/>
          </a:p>
        </p:txBody>
      </p:sp>
    </p:spTree>
    <p:extLst>
      <p:ext uri="{BB962C8B-B14F-4D97-AF65-F5344CB8AC3E}">
        <p14:creationId xmlns:p14="http://schemas.microsoft.com/office/powerpoint/2010/main" val="1023731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12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r>
              <a:rPr lang="es-ES" sz="1200" dirty="0">
                <a:latin typeface="Arial" panose="020B0604020202020204" pitchFamily="34" charset="0"/>
                <a:cs typeface="Arial" panose="020B0604020202020204" pitchFamily="34" charset="0"/>
              </a:rPr>
              <a:t>Para un MMI 1x4 </a:t>
            </a:r>
            <a:r>
              <a:rPr lang="es-ES" sz="1200" dirty="0" err="1">
                <a:latin typeface="Arial" panose="020B0604020202020204" pitchFamily="34" charset="0"/>
                <a:cs typeface="Arial" panose="020B0604020202020204" pitchFamily="34" charset="0"/>
              </a:rPr>
              <a:t>symmetric</a:t>
            </a:r>
            <a:r>
              <a:rPr lang="es-ES" sz="1200" dirty="0">
                <a:latin typeface="Arial" panose="020B0604020202020204" pitchFamily="34" charset="0"/>
                <a:cs typeface="Arial" panose="020B0604020202020204" pitchFamily="34" charset="0"/>
              </a:rPr>
              <a:t>, el procedimiento es similar al 2x2 </a:t>
            </a:r>
            <a:r>
              <a:rPr lang="es-ES" sz="1200" dirty="0" err="1">
                <a:latin typeface="Arial" panose="020B0604020202020204" pitchFamily="34" charset="0"/>
                <a:cs typeface="Arial" panose="020B0604020202020204" pitchFamily="34" charset="0"/>
              </a:rPr>
              <a:t>paired</a:t>
            </a:r>
            <a:r>
              <a:rPr lang="es-ES" sz="1200" dirty="0">
                <a:latin typeface="Arial" panose="020B0604020202020204" pitchFamily="34" charset="0"/>
                <a:cs typeface="Arial" panose="020B0604020202020204" pitchFamily="34" charset="0"/>
              </a:rPr>
              <a:t>. En este caso, la guía de entrada se ha colocado centrada (x = 0), y como primera aproximación, las cuatro guías de salida se han colocado simétricamente en las posiciones ±W/6 y ±2W/6, siendo la longitud del dispositivo 3Lpi/16. En este caso, con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 219.14um, la longitud inicial del MMI es aproximadamente 41.09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a:t>
            </a:r>
          </a:p>
          <a:p>
            <a:br>
              <a:rPr lang="es-ES" sz="1200" dirty="0">
                <a:latin typeface="Arial" panose="020B0604020202020204" pitchFamily="34" charset="0"/>
                <a:cs typeface="Arial" panose="020B0604020202020204" pitchFamily="34" charset="0"/>
              </a:rPr>
            </a:br>
            <a:r>
              <a:rPr lang="es-ES" sz="1200" dirty="0">
                <a:latin typeface="Arial" panose="020B0604020202020204" pitchFamily="34" charset="0"/>
                <a:cs typeface="Arial" panose="020B0604020202020204" pitchFamily="34" charset="0"/>
              </a:rPr>
              <a:t>Como en el caso anterior, el MMI necesita optimización para mejorar las pérdidas y obtener un ratio equilibrado en las salidas. Para ello, se ha modificado la posición de las guías con </a:t>
            </a:r>
            <a:r>
              <a:rPr lang="es-ES" sz="1200" dirty="0" err="1">
                <a:latin typeface="Arial" panose="020B0604020202020204" pitchFamily="34" charset="0"/>
                <a:cs typeface="Arial" panose="020B0604020202020204" pitchFamily="34" charset="0"/>
              </a:rPr>
              <a:t>dy</a:t>
            </a:r>
            <a:r>
              <a:rPr lang="es-ES" sz="1200" dirty="0">
                <a:latin typeface="Arial" panose="020B0604020202020204" pitchFamily="34" charset="0"/>
                <a:cs typeface="Arial" panose="020B0604020202020204" pitchFamily="34" charset="0"/>
              </a:rPr>
              <a:t> = 0.63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la longitud del MMI con </a:t>
            </a:r>
            <a:r>
              <a:rPr lang="es-ES" sz="1200" dirty="0" err="1">
                <a:latin typeface="Arial" panose="020B0604020202020204" pitchFamily="34" charset="0"/>
                <a:cs typeface="Arial" panose="020B0604020202020204" pitchFamily="34" charset="0"/>
              </a:rPr>
              <a:t>dL_MMI</a:t>
            </a:r>
            <a:r>
              <a:rPr lang="es-ES" sz="1200" dirty="0">
                <a:latin typeface="Arial" panose="020B0604020202020204" pitchFamily="34" charset="0"/>
                <a:cs typeface="Arial" panose="020B0604020202020204" pitchFamily="34" charset="0"/>
              </a:rPr>
              <a:t> = -1.3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la anchura de las guías con </a:t>
            </a:r>
            <a:r>
              <a:rPr lang="es-ES" sz="1200" dirty="0" err="1">
                <a:latin typeface="Arial" panose="020B0604020202020204" pitchFamily="34" charset="0"/>
                <a:cs typeface="Arial" panose="020B0604020202020204" pitchFamily="34" charset="0"/>
              </a:rPr>
              <a:t>m.wg_width_dw</a:t>
            </a:r>
            <a:r>
              <a:rPr lang="es-ES" sz="1200" dirty="0">
                <a:latin typeface="Arial" panose="020B0604020202020204" pitchFamily="34" charset="0"/>
                <a:cs typeface="Arial" panose="020B0604020202020204" pitchFamily="34" charset="0"/>
              </a:rPr>
              <a:t> = 1.3. Con esta configuración se ha obtenido una </a:t>
            </a:r>
            <a:r>
              <a:rPr lang="es-ES" sz="1200" dirty="0" err="1">
                <a:latin typeface="Arial" panose="020B0604020202020204" pitchFamily="34" charset="0"/>
                <a:cs typeface="Arial" panose="020B0604020202020204" pitchFamily="34" charset="0"/>
              </a:rPr>
              <a:t>excess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de 0.0975 dB, inferior a 0.1 dB, y un ratio de 0.2475 / 0.2525 / 0.2526 / 0.2474.</a:t>
            </a:r>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DB39D66C-8FEF-4B55-F67D-5191B06BBF0C}"/>
              </a:ext>
            </a:extLst>
          </p:cNvPr>
          <p:cNvSpPr/>
          <p:nvPr/>
        </p:nvSpPr>
        <p:spPr>
          <a:xfrm>
            <a:off x="609441" y="1194991"/>
            <a:ext cx="11199971" cy="348854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B1A27DDF-8B59-6AA0-1129-343DC9FDB8A2}"/>
              </a:ext>
            </a:extLst>
          </p:cNvPr>
          <p:cNvPicPr>
            <a:picLocks noChangeAspect="1"/>
          </p:cNvPicPr>
          <p:nvPr/>
        </p:nvPicPr>
        <p:blipFill>
          <a:blip r:embed="rId4"/>
          <a:srcRect/>
          <a:stretch/>
        </p:blipFill>
        <p:spPr>
          <a:xfrm>
            <a:off x="1278174" y="1848635"/>
            <a:ext cx="4789067" cy="2219324"/>
          </a:xfrm>
          <a:prstGeom prst="rect">
            <a:avLst/>
          </a:prstGeom>
        </p:spPr>
      </p:pic>
      <p:sp>
        <p:nvSpPr>
          <p:cNvPr id="6" name="CuadroTexto 5">
            <a:extLst>
              <a:ext uri="{FF2B5EF4-FFF2-40B4-BE49-F238E27FC236}">
                <a16:creationId xmlns:a16="http://schemas.microsoft.com/office/drawing/2014/main" id="{037FEF9C-A82A-9768-F91A-D7CF49B67DFE}"/>
              </a:ext>
            </a:extLst>
          </p:cNvPr>
          <p:cNvSpPr txBox="1"/>
          <p:nvPr/>
        </p:nvSpPr>
        <p:spPr>
          <a:xfrm>
            <a:off x="6067241" y="1250137"/>
            <a:ext cx="5387340" cy="3416320"/>
          </a:xfrm>
          <a:prstGeom prst="rect">
            <a:avLst/>
          </a:prstGeom>
          <a:noFill/>
        </p:spPr>
        <p:txBody>
          <a:bodyPr wrap="square">
            <a:spAutoFit/>
          </a:bodyPr>
          <a:lstStyle/>
          <a:p>
            <a:pPr algn="ctr"/>
            <a:r>
              <a:rPr lang="en-US" dirty="0"/>
              <a:t>------- </a:t>
            </a:r>
            <a:r>
              <a:rPr lang="en-US" dirty="0" err="1"/>
              <a:t>Pameters</a:t>
            </a:r>
            <a:r>
              <a:rPr lang="en-US" dirty="0"/>
              <a:t> -------</a:t>
            </a:r>
          </a:p>
          <a:p>
            <a:pPr algn="ctr"/>
            <a:r>
              <a:rPr lang="en-US" dirty="0"/>
              <a:t>MMI length 41.0886</a:t>
            </a:r>
          </a:p>
          <a:p>
            <a:pPr algn="ctr"/>
            <a:r>
              <a:rPr lang="en-US" dirty="0"/>
              <a:t>MMI length increment -1.3000</a:t>
            </a:r>
          </a:p>
          <a:p>
            <a:pPr algn="ctr"/>
            <a:r>
              <a:rPr lang="en-US" dirty="0"/>
              <a:t>IO </a:t>
            </a:r>
            <a:r>
              <a:rPr lang="en-US" dirty="0" err="1"/>
              <a:t>wg</a:t>
            </a:r>
            <a:r>
              <a:rPr lang="en-US" dirty="0"/>
              <a:t> width 1.0000</a:t>
            </a:r>
          </a:p>
          <a:p>
            <a:pPr algn="ctr"/>
            <a:r>
              <a:rPr lang="en-US" dirty="0"/>
              <a:t>IO </a:t>
            </a:r>
            <a:r>
              <a:rPr lang="en-US" dirty="0" err="1"/>
              <a:t>wg</a:t>
            </a:r>
            <a:r>
              <a:rPr lang="en-US" dirty="0"/>
              <a:t> width increment 1.3000</a:t>
            </a:r>
          </a:p>
          <a:p>
            <a:pPr algn="ctr"/>
            <a:r>
              <a:rPr lang="en-US" dirty="0"/>
              <a:t>------------------------</a:t>
            </a:r>
          </a:p>
          <a:p>
            <a:pPr algn="ctr"/>
            <a:r>
              <a:rPr lang="en-US" dirty="0"/>
              <a:t>Total power IN coupled 0.9978</a:t>
            </a:r>
          </a:p>
          <a:p>
            <a:pPr algn="ctr"/>
            <a:r>
              <a:rPr lang="en-US" dirty="0"/>
              <a:t>Total OUT power: 0.9778</a:t>
            </a:r>
          </a:p>
          <a:p>
            <a:pPr algn="ctr"/>
            <a:r>
              <a:rPr lang="en-US" dirty="0"/>
              <a:t>Excess loss [dB] =  0.0975</a:t>
            </a:r>
          </a:p>
          <a:p>
            <a:pPr algn="ctr"/>
            <a:r>
              <a:rPr lang="en-US" dirty="0"/>
              <a:t>------------------------</a:t>
            </a:r>
          </a:p>
          <a:p>
            <a:pPr algn="ctr"/>
            <a:r>
              <a:rPr lang="en-US" dirty="0"/>
              <a:t>Power over OUTs:  ['0.2420', '0.2469', '0.2470', '0.2419']</a:t>
            </a:r>
          </a:p>
          <a:p>
            <a:pPr algn="ctr"/>
            <a:r>
              <a:rPr lang="en-US" dirty="0"/>
              <a:t>Ratio over OUTs: ['0.2475', '0.2525', '0.2526', '0.2474']</a:t>
            </a:r>
            <a:endParaRPr lang="es-ES" dirty="0"/>
          </a:p>
        </p:txBody>
      </p:sp>
    </p:spTree>
    <p:extLst>
      <p:ext uri="{BB962C8B-B14F-4D97-AF65-F5344CB8AC3E}">
        <p14:creationId xmlns:p14="http://schemas.microsoft.com/office/powerpoint/2010/main" val="6998643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Se ha </a:t>
            </a:r>
            <a:r>
              <a:rPr lang="en-US" sz="1200" dirty="0" err="1">
                <a:latin typeface="Arial" panose="020B0604020202020204" pitchFamily="34" charset="0"/>
                <a:cs typeface="Arial" panose="020B0604020202020204" pitchFamily="34" charset="0"/>
              </a:rPr>
              <a:t>calculado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Lpi,TE</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Lpi,TM</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partir</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TE y TM par e impar del </a:t>
            </a:r>
            <a:r>
              <a:rPr lang="en-US" sz="1200" dirty="0" err="1">
                <a:latin typeface="Arial" panose="020B0604020202020204" pitchFamily="34" charset="0"/>
                <a:cs typeface="Arial" panose="020B0604020202020204" pitchFamily="34" charset="0"/>
              </a:rPr>
              <a:t>acoplador</a:t>
            </a:r>
            <a:r>
              <a:rPr lang="en-US" sz="1200" dirty="0">
                <a:latin typeface="Arial" panose="020B0604020202020204" pitchFamily="34" charset="0"/>
                <a:cs typeface="Arial" panose="020B0604020202020204" pitchFamily="34" charset="0"/>
              </a:rPr>
              <a:t>, tanto para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deep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para la shallow. </a:t>
            </a:r>
            <a:r>
              <a:rPr lang="es-ES" sz="1200" dirty="0">
                <a:latin typeface="Arial" panose="020B0604020202020204" pitchFamily="34" charset="0"/>
                <a:cs typeface="Arial" panose="020B0604020202020204" pitchFamily="34" charset="0"/>
              </a:rPr>
              <a:t>A mayor gap​, mayor es la distancia necesaria para que la potencia se transfiera de una guía a la otra. Por eso, al aumentar el gap,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tiende a aumentar tanto en la guía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como en la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ya que las guías están más separadas. </a:t>
            </a:r>
            <a:endParaRPr lang="en-US" sz="1200" dirty="0">
              <a:latin typeface="Arial" panose="020B0604020202020204" pitchFamily="34" charset="0"/>
              <a:cs typeface="Arial" panose="020B0604020202020204" pitchFamily="34" charset="0"/>
            </a:endParaRPr>
          </a:p>
          <a:p>
            <a:pPr algn="just"/>
            <a:br>
              <a:rPr lang="en-US" sz="1200" dirty="0">
                <a:latin typeface="Arial" panose="020B0604020202020204" pitchFamily="34" charset="0"/>
                <a:cs typeface="Arial" panose="020B0604020202020204" pitchFamily="34" charset="0"/>
              </a:rPr>
            </a:br>
            <a:r>
              <a:rPr lang="es-ES" sz="1200" dirty="0">
                <a:latin typeface="Arial" panose="020B0604020202020204" pitchFamily="34" charset="0"/>
                <a:cs typeface="Arial" panose="020B0604020202020204" pitchFamily="34" charset="0"/>
              </a:rPr>
              <a:t>En la guía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el campo está más confinado en el núcleo, por lo que le cuesta más acoplarse y se necesita una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mayor. En cambio, en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el campo está menos confinado y se extiende más hacia la cubierta, facilitando el acoplamiento y dando lugar a longitudes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menores. Además, la polarización TE presenta valores mayores porque su campo está más influido por la geometría de la guía, quedando más confinado.</a:t>
            </a:r>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Imagen 11">
            <a:extLst>
              <a:ext uri="{FF2B5EF4-FFF2-40B4-BE49-F238E27FC236}">
                <a16:creationId xmlns:a16="http://schemas.microsoft.com/office/drawing/2014/main" id="{C063F03D-90F4-E331-52CB-4B4401418393}"/>
              </a:ext>
            </a:extLst>
          </p:cNvPr>
          <p:cNvPicPr>
            <a:picLocks noChangeAspect="1"/>
          </p:cNvPicPr>
          <p:nvPr/>
        </p:nvPicPr>
        <p:blipFill>
          <a:blip r:embed="rId4"/>
          <a:srcRect/>
          <a:stretch/>
        </p:blipFill>
        <p:spPr>
          <a:xfrm>
            <a:off x="1288410" y="1493174"/>
            <a:ext cx="4128619" cy="3189341"/>
          </a:xfrm>
          <a:prstGeom prst="rect">
            <a:avLst/>
          </a:prstGeom>
        </p:spPr>
      </p:pic>
      <p:pic>
        <p:nvPicPr>
          <p:cNvPr id="17" name="Imagen 16">
            <a:extLst>
              <a:ext uri="{FF2B5EF4-FFF2-40B4-BE49-F238E27FC236}">
                <a16:creationId xmlns:a16="http://schemas.microsoft.com/office/drawing/2014/main" id="{C6C82157-84CA-440D-D8B2-CFB1C29D9E67}"/>
              </a:ext>
            </a:extLst>
          </p:cNvPr>
          <p:cNvPicPr>
            <a:picLocks noChangeAspect="1"/>
          </p:cNvPicPr>
          <p:nvPr/>
        </p:nvPicPr>
        <p:blipFill>
          <a:blip r:embed="rId5"/>
          <a:srcRect/>
          <a:stretch/>
        </p:blipFill>
        <p:spPr>
          <a:xfrm>
            <a:off x="7000393" y="1493173"/>
            <a:ext cx="4128619" cy="3189341"/>
          </a:xfrm>
          <a:prstGeom prst="rect">
            <a:avLst/>
          </a:prstGeom>
        </p:spPr>
      </p:pic>
      <p:sp>
        <p:nvSpPr>
          <p:cNvPr id="18" name="CuadroTexto 17">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a:t>slab = 150nm</a:t>
            </a:r>
            <a:endParaRPr lang="es-ES"/>
          </a:p>
        </p:txBody>
      </p:sp>
    </p:spTree>
    <p:extLst>
      <p:ext uri="{BB962C8B-B14F-4D97-AF65-F5344CB8AC3E}">
        <p14:creationId xmlns:p14="http://schemas.microsoft.com/office/powerpoint/2010/main" val="179796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En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observa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aumentar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tiende</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disminuir</a:t>
            </a:r>
            <a:r>
              <a:rPr lang="en-US" sz="1200" dirty="0">
                <a:latin typeface="Arial" panose="020B0604020202020204" pitchFamily="34" charset="0"/>
                <a:cs typeface="Arial" panose="020B0604020202020204" pitchFamily="34" charset="0"/>
              </a:rPr>
              <a:t> tanto para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deep y shallow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polarizaciones</a:t>
            </a:r>
            <a:r>
              <a:rPr lang="en-US" sz="1200" dirty="0">
                <a:latin typeface="Arial" panose="020B0604020202020204" pitchFamily="34" charset="0"/>
                <a:cs typeface="Arial" panose="020B0604020202020204" pitchFamily="34" charset="0"/>
              </a:rPr>
              <a:t> TE y TM.</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Para la guía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es mayor porque el campo está más confinado que en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por lo que necesita mayor distancia para acoplarse. Además, por la geometría de la guía, la polarización TE queda más confinada que TM, dando lugar a valores de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mayores.</a:t>
            </a:r>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Imagen 9">
            <a:extLst>
              <a:ext uri="{FF2B5EF4-FFF2-40B4-BE49-F238E27FC236}">
                <a16:creationId xmlns:a16="http://schemas.microsoft.com/office/drawing/2014/main" id="{C1754BE1-864E-B39A-883E-787FEB77EAD4}"/>
              </a:ext>
            </a:extLst>
          </p:cNvPr>
          <p:cNvPicPr>
            <a:picLocks noChangeAspect="1"/>
          </p:cNvPicPr>
          <p:nvPr/>
        </p:nvPicPr>
        <p:blipFill>
          <a:blip r:embed="rId4"/>
          <a:srcRect/>
          <a:stretch/>
        </p:blipFill>
        <p:spPr>
          <a:xfrm>
            <a:off x="7071794" y="1485685"/>
            <a:ext cx="3985818" cy="3226952"/>
          </a:xfrm>
          <a:prstGeom prst="rect">
            <a:avLst/>
          </a:prstGeom>
        </p:spPr>
      </p:pic>
      <p:sp>
        <p:nvSpPr>
          <p:cNvPr id="7" name="CuadroTexto 6">
            <a:extLst>
              <a:ext uri="{FF2B5EF4-FFF2-40B4-BE49-F238E27FC236}">
                <a16:creationId xmlns:a16="http://schemas.microsoft.com/office/drawing/2014/main" id="{5F16E403-DF61-C9A0-D57F-2E61BEFA8887}"/>
              </a:ext>
            </a:extLst>
          </p:cNvPr>
          <p:cNvSpPr txBox="1"/>
          <p:nvPr/>
        </p:nvSpPr>
        <p:spPr>
          <a:xfrm>
            <a:off x="6354062" y="4384496"/>
            <a:ext cx="2269787" cy="369332"/>
          </a:xfrm>
          <a:prstGeom prst="rect">
            <a:avLst/>
          </a:prstGeom>
          <a:noFill/>
        </p:spPr>
        <p:txBody>
          <a:bodyPr wrap="square">
            <a:spAutoFit/>
          </a:bodyPr>
          <a:lstStyle/>
          <a:p>
            <a:r>
              <a:rPr lang="en-US" dirty="0"/>
              <a:t>slab = 150nm</a:t>
            </a:r>
            <a:endParaRPr lang="es-ES" dirty="0"/>
          </a:p>
        </p:txBody>
      </p:sp>
      <p:pic>
        <p:nvPicPr>
          <p:cNvPr id="12" name="Imagen 11">
            <a:extLst>
              <a:ext uri="{FF2B5EF4-FFF2-40B4-BE49-F238E27FC236}">
                <a16:creationId xmlns:a16="http://schemas.microsoft.com/office/drawing/2014/main" id="{C2B427C0-87BB-D921-1EB4-647DDC3F5F5C}"/>
              </a:ext>
            </a:extLst>
          </p:cNvPr>
          <p:cNvPicPr>
            <a:picLocks noChangeAspect="1"/>
          </p:cNvPicPr>
          <p:nvPr/>
        </p:nvPicPr>
        <p:blipFill>
          <a:blip r:embed="rId5"/>
          <a:srcRect/>
          <a:stretch/>
        </p:blipFill>
        <p:spPr>
          <a:xfrm>
            <a:off x="1357579" y="1485685"/>
            <a:ext cx="3990440" cy="3230695"/>
          </a:xfrm>
          <a:prstGeom prst="rect">
            <a:avLst/>
          </a:prstGeom>
        </p:spPr>
      </p:pic>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el MMI se observa que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disminuye al aumentar la longitud de onda, tanto para TE como para TM y para las guías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Esto se debe a que, al aumentar lambda, cambia el confinamiento de los modos y la diferencia entre los dos primeros modos de la región multimodo aumenta lo suficiente como para que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sea menor.</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Comparado con el acoplador direccional, la diferencia principal es el mecanismo de acoplo. En el direccional la luz se transfiere entre dos guías cercanas a través del campo en la superficie, por lo que el gap es crítico. En el MMI, en cambio, la luz se propaga por una región multimodo y se recombina por interferencia, por eso la variación con lambda es más suave y TE/TM tienen valores de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más parecidos.</a:t>
            </a:r>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Imagen 7">
            <a:extLst>
              <a:ext uri="{FF2B5EF4-FFF2-40B4-BE49-F238E27FC236}">
                <a16:creationId xmlns:a16="http://schemas.microsoft.com/office/drawing/2014/main" id="{1F039297-1A17-E9A2-7975-8F41EDE94A3A}"/>
              </a:ext>
            </a:extLst>
          </p:cNvPr>
          <p:cNvPicPr>
            <a:picLocks noChangeAspect="1"/>
          </p:cNvPicPr>
          <p:nvPr/>
        </p:nvPicPr>
        <p:blipFill>
          <a:blip r:embed="rId4"/>
          <a:srcRect/>
          <a:stretch/>
        </p:blipFill>
        <p:spPr>
          <a:xfrm>
            <a:off x="1426681" y="1547979"/>
            <a:ext cx="3852237" cy="3113265"/>
          </a:xfrm>
          <a:prstGeom prst="rect">
            <a:avLst/>
          </a:prstGeom>
        </p:spPr>
      </p:pic>
      <p:pic>
        <p:nvPicPr>
          <p:cNvPr id="12" name="Imagen 11">
            <a:extLst>
              <a:ext uri="{FF2B5EF4-FFF2-40B4-BE49-F238E27FC236}">
                <a16:creationId xmlns:a16="http://schemas.microsoft.com/office/drawing/2014/main" id="{33933FCC-0772-B121-FD44-94BCB5AD8931}"/>
              </a:ext>
            </a:extLst>
          </p:cNvPr>
          <p:cNvPicPr>
            <a:picLocks noChangeAspect="1"/>
          </p:cNvPicPr>
          <p:nvPr/>
        </p:nvPicPr>
        <p:blipFill>
          <a:blip r:embed="rId5"/>
          <a:srcRect/>
          <a:stretch/>
        </p:blipFill>
        <p:spPr>
          <a:xfrm>
            <a:off x="7138584" y="1519211"/>
            <a:ext cx="3852238" cy="3118804"/>
          </a:xfrm>
          <a:prstGeom prst="rect">
            <a:avLst/>
          </a:prstGeom>
        </p:spPr>
      </p:pic>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p:spTree>
    <p:extLst>
      <p:ext uri="{BB962C8B-B14F-4D97-AF65-F5344CB8AC3E}">
        <p14:creationId xmlns:p14="http://schemas.microsoft.com/office/powerpoint/2010/main" val="955145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a:latin typeface="Arial" panose="020B0604020202020204" pitchFamily="34" charset="0"/>
                <a:cs typeface="Arial" panose="020B0604020202020204" pitchFamily="34" charset="0"/>
              </a:rPr>
              <a:t>Se observa </a:t>
            </a:r>
            <a:r>
              <a:rPr lang="es-ES" sz="1200" dirty="0">
                <a:latin typeface="Arial" panose="020B0604020202020204" pitchFamily="34" charset="0"/>
                <a:cs typeface="Arial" panose="020B0604020202020204" pitchFamily="34" charset="0"/>
              </a:rPr>
              <a:t>que </a:t>
            </a:r>
            <a:r>
              <a:rPr lang="es-ES" sz="1200" dirty="0" err="1">
                <a:latin typeface="Arial" panose="020B0604020202020204" pitchFamily="34" charset="0"/>
                <a:cs typeface="Arial" panose="020B0604020202020204" pitchFamily="34" charset="0"/>
              </a:rPr>
              <a:t>Lpi</a:t>
            </a:r>
            <a:r>
              <a:rPr lang="es-ES" sz="1200" dirty="0">
                <a:latin typeface="Arial" panose="020B0604020202020204" pitchFamily="34" charset="0"/>
                <a:cs typeface="Arial" panose="020B0604020202020204" pitchFamily="34" charset="0"/>
              </a:rPr>
              <a:t> aumenta al aumentar el ancho del MMI. Esto ocurre porque, al hacer más ancha la región multimodo, aumenta la distancia necesaria para que los modos interfieran y se forme de nuevo la imagen del campo. En la guía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TE y TM siguen una tendencia muy parecida y casi paralela. En la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también siguen una tendencia creciente, aunque aparecen algunos puntos irregulares en TM debido al </a:t>
            </a:r>
            <a:r>
              <a:rPr lang="es-ES" sz="1200" dirty="0" err="1">
                <a:latin typeface="Arial" panose="020B0604020202020204" pitchFamily="34" charset="0"/>
                <a:cs typeface="Arial" panose="020B0604020202020204" pitchFamily="34" charset="0"/>
              </a:rPr>
              <a:t>modesolver</a:t>
            </a:r>
            <a:r>
              <a:rPr lang="es-ES" sz="1200" dirty="0">
                <a:latin typeface="Arial" panose="020B0604020202020204" pitchFamily="34" charset="0"/>
                <a:cs typeface="Arial" panose="020B0604020202020204" pitchFamily="34" charset="0"/>
              </a:rPr>
              <a:t>.</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Sí, el MMI puede funcionar de forma casi independiente de la polarización en la mayoría de los puntos, porque hay valores de </a:t>
            </a:r>
            <a:r>
              <a:rPr lang="es-ES" sz="1200" dirty="0" err="1">
                <a:latin typeface="Arial" panose="020B0604020202020204" pitchFamily="34" charset="0"/>
                <a:cs typeface="Arial" panose="020B0604020202020204" pitchFamily="34" charset="0"/>
              </a:rPr>
              <a:t>wMMI</a:t>
            </a:r>
            <a:r>
              <a:rPr lang="es-ES" sz="1200" dirty="0">
                <a:latin typeface="Arial" panose="020B0604020202020204" pitchFamily="34" charset="0"/>
                <a:cs typeface="Arial" panose="020B0604020202020204" pitchFamily="34" charset="0"/>
              </a:rPr>
              <a:t> donde </a:t>
            </a:r>
            <a:r>
              <a:rPr lang="es-ES" sz="1200" dirty="0" err="1">
                <a:latin typeface="Arial" panose="020B0604020202020204" pitchFamily="34" charset="0"/>
                <a:cs typeface="Arial" panose="020B0604020202020204" pitchFamily="34" charset="0"/>
              </a:rPr>
              <a:t>Lpi_TE</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Lpi_TM</a:t>
            </a:r>
            <a:r>
              <a:rPr lang="es-ES" sz="1200" dirty="0">
                <a:latin typeface="Arial" panose="020B0604020202020204" pitchFamily="34" charset="0"/>
                <a:cs typeface="Arial" panose="020B0604020202020204" pitchFamily="34" charset="0"/>
              </a:rPr>
              <a:t> son prácticamente iguales, especialmente cerca de </a:t>
            </a:r>
            <a:r>
              <a:rPr lang="es-ES" sz="1200" dirty="0" err="1">
                <a:latin typeface="Arial" panose="020B0604020202020204" pitchFamily="34" charset="0"/>
                <a:cs typeface="Arial" panose="020B0604020202020204" pitchFamily="34" charset="0"/>
              </a:rPr>
              <a:t>wMMI</a:t>
            </a:r>
            <a:r>
              <a:rPr lang="es-ES" sz="1200" dirty="0">
                <a:latin typeface="Arial" panose="020B0604020202020204" pitchFamily="34" charset="0"/>
                <a:cs typeface="Arial" panose="020B0604020202020204" pitchFamily="34" charset="0"/>
              </a:rPr>
              <a:t> = 9-10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tanto para la guía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como para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Esto significa que, eligiendo adecuadamente el ancho y la longitud del MMI, se puede diseñar un acoplador que funcione de forma similar para TE y TM.</a:t>
            </a:r>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Imagen 7">
            <a:extLst>
              <a:ext uri="{FF2B5EF4-FFF2-40B4-BE49-F238E27FC236}">
                <a16:creationId xmlns:a16="http://schemas.microsoft.com/office/drawing/2014/main" id="{79078BC8-32AE-8A46-EEC5-50CC5F3680CE}"/>
              </a:ext>
            </a:extLst>
          </p:cNvPr>
          <p:cNvPicPr>
            <a:picLocks noChangeAspect="1"/>
          </p:cNvPicPr>
          <p:nvPr/>
        </p:nvPicPr>
        <p:blipFill>
          <a:blip r:embed="rId4"/>
          <a:stretch>
            <a:fillRect/>
          </a:stretch>
        </p:blipFill>
        <p:spPr>
          <a:xfrm>
            <a:off x="1337826" y="1516469"/>
            <a:ext cx="4029947" cy="3211254"/>
          </a:xfrm>
          <a:prstGeom prst="rect">
            <a:avLst/>
          </a:prstGeom>
        </p:spPr>
      </p:pic>
      <p:pic>
        <p:nvPicPr>
          <p:cNvPr id="12" name="Imagen 11">
            <a:extLst>
              <a:ext uri="{FF2B5EF4-FFF2-40B4-BE49-F238E27FC236}">
                <a16:creationId xmlns:a16="http://schemas.microsoft.com/office/drawing/2014/main" id="{E1007380-4F2D-F310-E7CD-2035258ED061}"/>
              </a:ext>
            </a:extLst>
          </p:cNvPr>
          <p:cNvPicPr>
            <a:picLocks noChangeAspect="1"/>
          </p:cNvPicPr>
          <p:nvPr/>
        </p:nvPicPr>
        <p:blipFill>
          <a:blip r:embed="rId5"/>
          <a:stretch>
            <a:fillRect/>
          </a:stretch>
        </p:blipFill>
        <p:spPr>
          <a:xfrm>
            <a:off x="7049729" y="1499068"/>
            <a:ext cx="4029947" cy="3211253"/>
          </a:xfrm>
          <a:prstGeom prst="rect">
            <a:avLst/>
          </a:prstGeom>
        </p:spPr>
      </p:pic>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p:spTree>
    <p:extLst>
      <p:ext uri="{BB962C8B-B14F-4D97-AF65-F5344CB8AC3E}">
        <p14:creationId xmlns:p14="http://schemas.microsoft.com/office/powerpoint/2010/main" val="535939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18</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27435EAD1E947D4399132BFA58431E9C" ma:contentTypeVersion="7" ma:contentTypeDescription="Crear nuevo documento." ma:contentTypeScope="" ma:versionID="2ab19489a46a5d63d273fee71c9e01f5">
  <xsd:schema xmlns:xsd="http://www.w3.org/2001/XMLSchema" xmlns:xs="http://www.w3.org/2001/XMLSchema" xmlns:p="http://schemas.microsoft.com/office/2006/metadata/properties" xmlns:ns2="e3c3eefa-5e5f-4c99-a02f-fc4447243cc2" targetNamespace="http://schemas.microsoft.com/office/2006/metadata/properties" ma:root="true" ma:fieldsID="556ff652e15ed16adc927b97e6666b80" ns2:_="">
    <xsd:import namespace="e3c3eefa-5e5f-4c99-a02f-fc4447243cc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3c3eefa-5e5f-4c99-a02f-fc4447243cc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7CD8777-4AC9-41BE-84C6-1C270FD743CF}">
  <ds:schemaRefs>
    <ds:schemaRef ds:uri="e3c3eefa-5e5f-4c99-a02f-fc4447243cc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4FC8009-7939-4702-8C99-D49AD7BF2F9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3c3eefa-5e5f-4c99-a02f-fc4447243cc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0650B0-177C-4CC6-970C-23B79CE43F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1453</TotalTime>
  <Words>3100</Words>
  <Application>Microsoft Office PowerPoint</Application>
  <PresentationFormat>Panorámica</PresentationFormat>
  <Paragraphs>203</Paragraphs>
  <Slides>18</Slides>
  <Notes>13</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18</vt:i4>
      </vt:variant>
    </vt:vector>
  </HeadingPairs>
  <TitlesOfParts>
    <vt:vector size="25" baseType="lpstr">
      <vt:lpstr>Aptos</vt:lpstr>
      <vt:lpstr>Arial</vt:lpstr>
      <vt:lpstr>Calibri</vt:lpstr>
      <vt:lpstr>Lucida Sans</vt:lpstr>
      <vt:lpstr>Times New Roman</vt:lpstr>
      <vt:lpstr>Wingdings</vt:lpstr>
      <vt:lpstr>Office Theme</vt:lpstr>
      <vt:lpstr>Presentación de PowerPoint</vt:lpstr>
      <vt:lpstr>Instructions General</vt:lpstr>
      <vt:lpstr>Presentación de PowerPoint</vt:lpstr>
      <vt:lpstr>Learning outcome #1.1 – Materials &amp; #1.2 – Cross-Section Definition</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12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Miguel Angel Descalzo Cuevas</cp:lastModifiedBy>
  <cp:revision>28</cp:revision>
  <dcterms:created xsi:type="dcterms:W3CDTF">2025-01-27T02:46:57Z</dcterms:created>
  <dcterms:modified xsi:type="dcterms:W3CDTF">2026-05-03T18:35:07Z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y fmtid="{D5CDD505-2E9C-101B-9397-08002B2CF9AE}" pid="5" name="ContentTypeId">
    <vt:lpwstr>0x01010027435EAD1E947D4399132BFA58431E9C</vt:lpwstr>
  </property>
</Properties>
</file>